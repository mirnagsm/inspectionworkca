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52.jpg" ContentType="image/jpeg"/>
  <Override PartName="/ppt/notesSlides/notesSlide8.xml" ContentType="application/vnd.openxmlformats-officedocument.presentationml.notesSlide+xml"/>
  <Override PartName="/ppt/media/image53.jpg" ContentType="image/jpeg"/>
  <Override PartName="/ppt/notesSlides/notesSlide9.xml" ContentType="application/vnd.openxmlformats-officedocument.presentationml.notesSlide+xml"/>
  <Override PartName="/ppt/media/image57.jpg" ContentType="image/jpeg"/>
  <Override PartName="/ppt/notesSlides/notesSlide10.xml" ContentType="application/vnd.openxmlformats-officedocument.presentationml.notesSlide+xml"/>
  <Override PartName="/ppt/media/image61.jpg" ContentType="image/jpeg"/>
  <Override PartName="/ppt/notesSlides/notesSlide11.xml" ContentType="application/vnd.openxmlformats-officedocument.presentationml.notesSlide+xml"/>
  <Override PartName="/ppt/media/image64.jpg" ContentType="image/jpeg"/>
  <Override PartName="/ppt/notesSlides/notesSlide12.xml" ContentType="application/vnd.openxmlformats-officedocument.presentationml.notesSlide+xml"/>
  <Override PartName="/ppt/media/image65.jpg" ContentType="image/jpeg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7" r:id="rId2"/>
    <p:sldId id="256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embeddedFontLst>
    <p:embeddedFont>
      <p:font typeface="Work Sans Light" panose="00000400000000000000" pitchFamily="2" charset="0"/>
      <p:regular r:id="rId17"/>
    </p:embeddedFont>
    <p:embeddedFont>
      <p:font typeface="Poppins" panose="020B0604020202020204" charset="0"/>
      <p:regular r:id="rId18"/>
      <p:bold r:id="rId19"/>
      <p:italic r:id="rId20"/>
      <p:boldItalic r:id="rId21"/>
    </p:embeddedFont>
    <p:embeddedFont>
      <p:font typeface="Work Sans ExtraBold" panose="00000900000000000000" pitchFamily="2" charset="0"/>
      <p:bold r:id="rId22"/>
    </p:embeddedFont>
    <p:embeddedFont>
      <p:font typeface="Lato" panose="020B0604020202020204" charset="0"/>
      <p:regular r:id="rId23"/>
      <p:bold r:id="rId24"/>
      <p:italic r:id="rId25"/>
      <p:boldItalic r:id="rId26"/>
    </p:embeddedFont>
    <p:embeddedFont>
      <p:font typeface="Work Sans" panose="00000800000000000000" pitchFamily="2" charset="0"/>
      <p:bold r:id="rId27"/>
    </p:embeddedFont>
    <p:embeddedFont>
      <p:font typeface="Roboto" panose="020B0604020202020204" charset="0"/>
      <p:regular r:id="rId28"/>
      <p:bold r:id="rId29"/>
      <p:italic r:id="rId30"/>
      <p:boldItalic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Oswald" panose="020B0604020202020204" charset="0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AD000E"/>
    <a:srgbClr val="FED8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62" autoAdjust="0"/>
    <p:restoredTop sz="94660"/>
  </p:normalViewPr>
  <p:slideViewPr>
    <p:cSldViewPr snapToGrid="0">
      <p:cViewPr>
        <p:scale>
          <a:sx n="50" d="100"/>
          <a:sy n="50" d="100"/>
        </p:scale>
        <p:origin x="936" y="420"/>
      </p:cViewPr>
      <p:guideLst>
        <p:guide orient="horz" pos="2160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viewProps" Target="viewProps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79732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4576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3056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6180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3421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0346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655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31947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6830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5846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2942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88991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20414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0377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jpe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0.png"/><Relationship Id="rId5" Type="http://schemas.openxmlformats.org/officeDocument/2006/relationships/image" Target="../media/image35.png"/><Relationship Id="rId10" Type="http://schemas.openxmlformats.org/officeDocument/2006/relationships/image" Target="../media/image32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1.jp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2.png"/><Relationship Id="rId4" Type="http://schemas.openxmlformats.org/officeDocument/2006/relationships/image" Target="../media/image42.png"/><Relationship Id="rId9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7.jp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3.jp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57.jp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.png"/><Relationship Id="rId9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65.jp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000E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Google Shape;86;p13"/>
          <p:cNvSpPr txBox="1"/>
          <p:nvPr/>
        </p:nvSpPr>
        <p:spPr>
          <a:xfrm>
            <a:off x="4195762" y="2579042"/>
            <a:ext cx="38004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PRESENTACIÓN</a:t>
            </a:r>
            <a:r>
              <a:rPr lang="en-US" sz="1500" b="1" i="0" u="none" strike="noStrike" cap="none" dirty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 </a:t>
            </a:r>
            <a:r>
              <a:rPr lang="en-US" sz="1500" b="1" i="0" u="none" strike="noStrike" cap="none" dirty="0" err="1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CORPORATIVA</a:t>
            </a:r>
            <a:endParaRPr dirty="0">
              <a:latin typeface="Work Sans" panose="00000800000000000000" pitchFamily="2" charset="0"/>
            </a:endParaRPr>
          </a:p>
        </p:txBody>
      </p:sp>
      <p:sp>
        <p:nvSpPr>
          <p:cNvPr id="12" name="Google Shape;87;p13"/>
          <p:cNvSpPr txBox="1"/>
          <p:nvPr/>
        </p:nvSpPr>
        <p:spPr>
          <a:xfrm>
            <a:off x="1880473" y="3007667"/>
            <a:ext cx="843105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BROCHURE DE </a:t>
            </a:r>
            <a:r>
              <a:rPr lang="en-US" sz="4200" b="1" i="0" u="none" strike="noStrike" cap="none" dirty="0" err="1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SERVICIOS</a:t>
            </a:r>
            <a:r>
              <a:rPr lang="en-US" sz="4200" b="1" i="0" u="none" strike="noStrike" cap="none" dirty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</a:t>
            </a:r>
            <a:r>
              <a:rPr lang="en-US" sz="4200" b="1" i="0" u="none" strike="noStrike" cap="none" dirty="0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2026</a:t>
            </a:r>
            <a:endParaRPr dirty="0">
              <a:solidFill>
                <a:schemeClr val="bg1"/>
              </a:solidFill>
              <a:latin typeface="Work Sans ExtraBold" panose="00000900000000000000" pitchFamily="2" charset="0"/>
            </a:endParaRPr>
          </a:p>
        </p:txBody>
      </p:sp>
      <p:sp>
        <p:nvSpPr>
          <p:cNvPr id="13" name="Google Shape;88;p13"/>
          <p:cNvSpPr txBox="1"/>
          <p:nvPr/>
        </p:nvSpPr>
        <p:spPr>
          <a:xfrm>
            <a:off x="459582" y="4655492"/>
            <a:ext cx="1127283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" panose="00000800000000000000" pitchFamily="2" charset="0"/>
                <a:ea typeface="Lato"/>
                <a:cs typeface="Lato"/>
                <a:sym typeface="Lato"/>
              </a:rPr>
              <a:t>Soluciones</a:t>
            </a:r>
            <a:r>
              <a:rPr lang="en-US" sz="24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" panose="000008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" panose="00000800000000000000" pitchFamily="2" charset="0"/>
                <a:ea typeface="Lato"/>
                <a:cs typeface="Lato"/>
                <a:sym typeface="Lato"/>
              </a:rPr>
              <a:t>Integrales</a:t>
            </a:r>
            <a:r>
              <a:rPr lang="en-US" sz="24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" panose="000008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" panose="00000800000000000000" pitchFamily="2" charset="0"/>
                <a:ea typeface="Lato"/>
                <a:cs typeface="Lato"/>
                <a:sym typeface="Lato"/>
              </a:rPr>
              <a:t>en</a:t>
            </a:r>
            <a:r>
              <a:rPr lang="en-US" sz="24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" panose="000008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s-VE" sz="2400" b="0" i="0" u="none" strike="noStrike" cap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" panose="00000800000000000000" pitchFamily="2" charset="0"/>
                <a:ea typeface="Lato"/>
                <a:cs typeface="Lato"/>
                <a:sym typeface="Lato"/>
              </a:rPr>
              <a:t>Inspección</a:t>
            </a:r>
            <a:r>
              <a:rPr lang="en-US" sz="2400" b="0" i="0" u="none" strike="noStrike" cap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" panose="00000800000000000000" pitchFamily="2" charset="0"/>
                <a:ea typeface="Lato"/>
                <a:cs typeface="Lato"/>
                <a:sym typeface="Lato"/>
              </a:rPr>
              <a:t>, </a:t>
            </a:r>
            <a:r>
              <a:rPr lang="en-US" sz="2400" b="0" i="0" u="none" strike="noStrike" cap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" panose="00000800000000000000" pitchFamily="2" charset="0"/>
                <a:ea typeface="Lato"/>
                <a:cs typeface="Lato"/>
                <a:sym typeface="Lato"/>
              </a:rPr>
              <a:t>Fabricación</a:t>
            </a:r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" panose="00000800000000000000" pitchFamily="2" charset="0"/>
                <a:ea typeface="Lato"/>
                <a:cs typeface="Lato"/>
                <a:sym typeface="Lato"/>
              </a:rPr>
              <a:t>, 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" panose="00000800000000000000" pitchFamily="2" charset="0"/>
                <a:ea typeface="Lato"/>
                <a:cs typeface="Lato"/>
                <a:sym typeface="Lato"/>
              </a:rPr>
              <a:t>Mantenimiento</a:t>
            </a:r>
            <a:r>
              <a:rPr lang="en-US" sz="2400" b="0" i="0" u="none" strike="noStrike" cap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" panose="00000800000000000000" pitchFamily="2" charset="0"/>
                <a:ea typeface="Lato"/>
                <a:cs typeface="Lato"/>
                <a:sym typeface="Lato"/>
              </a:rPr>
              <a:t> y </a:t>
            </a:r>
            <a:r>
              <a:rPr lang="en-US" sz="2400" b="0" i="0" u="none" strike="noStrike" cap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" panose="00000800000000000000" pitchFamily="2" charset="0"/>
                <a:ea typeface="Lato"/>
                <a:cs typeface="Lato"/>
                <a:sym typeface="Lato"/>
              </a:rPr>
              <a:t>Soldadura</a:t>
            </a:r>
            <a:endParaRPr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" panose="00000800000000000000" pitchFamily="2" charset="0"/>
            </a:endParaRPr>
          </a:p>
        </p:txBody>
      </p:sp>
      <p:cxnSp>
        <p:nvCxnSpPr>
          <p:cNvPr id="15" name="Conector recto 14"/>
          <p:cNvCxnSpPr/>
          <p:nvPr/>
        </p:nvCxnSpPr>
        <p:spPr>
          <a:xfrm>
            <a:off x="5376000" y="4229100"/>
            <a:ext cx="14400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n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308" y="390972"/>
            <a:ext cx="3565385" cy="1990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000E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Google Shape;95;p14"/>
          <p:cNvSpPr txBox="1"/>
          <p:nvPr/>
        </p:nvSpPr>
        <p:spPr>
          <a:xfrm>
            <a:off x="295275" y="2869555"/>
            <a:ext cx="116014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1. </a:t>
            </a:r>
            <a:r>
              <a:rPr lang="en-US" sz="3600" b="1" i="0" u="none" strike="noStrike" cap="none" dirty="0" err="1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SERVICIOS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</a:t>
            </a:r>
            <a:r>
              <a:rPr lang="en-US" sz="3600" b="1" i="0" u="none" strike="noStrike" cap="none" dirty="0" err="1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ESPECIALIZADOS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DE </a:t>
            </a:r>
            <a:r>
              <a:rPr lang="en-US" sz="3600" b="1" i="0" u="none" strike="noStrike" cap="none" dirty="0" err="1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INSPECCIÓN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, </a:t>
            </a:r>
            <a:r>
              <a:rPr lang="en-US" sz="3600" b="1" i="0" u="none" strike="noStrike" cap="none" dirty="0" err="1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CERTIFICACIÓN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Y </a:t>
            </a:r>
            <a:r>
              <a:rPr lang="en-US" sz="3600" b="1" i="0" u="none" strike="noStrike" cap="none" dirty="0" err="1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CONFIABILIDAD</a:t>
            </a:r>
            <a:endParaRPr dirty="0">
              <a:latin typeface="Work Sans ExtraBold" panose="00000900000000000000" pitchFamily="2" charset="0"/>
            </a:endParaRPr>
          </a:p>
        </p:txBody>
      </p:sp>
      <p:sp>
        <p:nvSpPr>
          <p:cNvPr id="11" name="Google Shape;96;p14"/>
          <p:cNvSpPr txBox="1"/>
          <p:nvPr/>
        </p:nvSpPr>
        <p:spPr>
          <a:xfrm>
            <a:off x="1052513" y="4431655"/>
            <a:ext cx="1008697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Esta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línea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se divide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en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dos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grandes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pilares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para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ofrecer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servicios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especializados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inspección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diagnóstico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y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confiabilidad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los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sectores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800" dirty="0" err="1" smtClean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Perforación</a:t>
            </a:r>
            <a:r>
              <a:rPr lang="en-US" sz="1800" dirty="0" smtClean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/ </a:t>
            </a:r>
            <a:r>
              <a:rPr lang="en-US" sz="1800" dirty="0" err="1" smtClean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Producción</a:t>
            </a:r>
            <a:r>
              <a:rPr lang="en-US" sz="1800" dirty="0" smtClean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(</a:t>
            </a:r>
            <a:r>
              <a:rPr lang="en-US" sz="1800" dirty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Upstream</a:t>
            </a:r>
            <a:r>
              <a:rPr lang="en-US" sz="1800" dirty="0" smtClean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) 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y </a:t>
            </a:r>
            <a:r>
              <a:rPr lang="en-US" sz="1800" dirty="0" err="1" smtClean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Refinerías</a:t>
            </a:r>
            <a:r>
              <a:rPr lang="en-US" sz="1800" dirty="0" smtClean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/ </a:t>
            </a:r>
            <a:r>
              <a:rPr lang="en-US" sz="1800" dirty="0" err="1" smtClean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Plantas</a:t>
            </a:r>
            <a:r>
              <a:rPr lang="en-US" sz="1800" dirty="0" smtClean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(</a:t>
            </a:r>
            <a:r>
              <a:rPr lang="en-US" sz="1800" dirty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Downstream</a:t>
            </a:r>
            <a:r>
              <a:rPr lang="en-US" sz="1800" dirty="0" smtClean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),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cumpliendo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con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los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estándares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certificación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requeridos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chemeClr val="tx1">
                      <a:alpha val="43000"/>
                    </a:scheme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.</a:t>
            </a:r>
            <a:endParaRPr sz="2000" dirty="0">
              <a:solidFill>
                <a:schemeClr val="bg1"/>
              </a:solidFill>
              <a:effectLst>
                <a:outerShdw blurRad="38100" dist="38100" dir="2700000" algn="tl">
                  <a:schemeClr val="tx1">
                    <a:alpha val="43000"/>
                  </a:schemeClr>
                </a:outerShdw>
              </a:effectLst>
              <a:latin typeface="Work Sans Light" panose="00000400000000000000" pitchFamily="2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308" y="390972"/>
            <a:ext cx="3565385" cy="1990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000E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Google Shape;240;p21"/>
          <p:cNvSpPr txBox="1"/>
          <p:nvPr/>
        </p:nvSpPr>
        <p:spPr>
          <a:xfrm>
            <a:off x="571500" y="1388119"/>
            <a:ext cx="116014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 err="1" smtClean="0">
                <a:solidFill>
                  <a:schemeClr val="bg1"/>
                </a:solidFill>
                <a:latin typeface="Work Sans ExtraBold" panose="00000900000000000000" pitchFamily="2" charset="0"/>
                <a:cs typeface="Poppins"/>
                <a:sym typeface="Poppins"/>
              </a:rPr>
              <a:t>RESPALDO</a:t>
            </a:r>
            <a:r>
              <a:rPr lang="en-US" sz="2700" b="1" dirty="0" smtClean="0">
                <a:solidFill>
                  <a:schemeClr val="bg1"/>
                </a:solidFill>
                <a:latin typeface="Work Sans ExtraBold" panose="00000900000000000000" pitchFamily="2" charset="0"/>
                <a:cs typeface="Poppins"/>
                <a:sym typeface="Poppins"/>
              </a:rPr>
              <a:t> Y </a:t>
            </a:r>
            <a:r>
              <a:rPr lang="en-US" sz="2700" b="1" dirty="0" err="1" smtClean="0">
                <a:solidFill>
                  <a:schemeClr val="bg1"/>
                </a:solidFill>
                <a:latin typeface="Work Sans ExtraBold" panose="00000900000000000000" pitchFamily="2" charset="0"/>
                <a:cs typeface="Poppins"/>
                <a:sym typeface="Poppins"/>
              </a:rPr>
              <a:t>ACREDITACIÓN</a:t>
            </a:r>
            <a:r>
              <a:rPr lang="en-US" sz="2700" b="1" dirty="0" smtClean="0">
                <a:solidFill>
                  <a:schemeClr val="bg1"/>
                </a:solidFill>
                <a:latin typeface="Work Sans ExtraBold" panose="00000900000000000000" pitchFamily="2" charset="0"/>
                <a:cs typeface="Poppins"/>
                <a:sym typeface="Poppins"/>
              </a:rPr>
              <a:t> </a:t>
            </a:r>
            <a:r>
              <a:rPr lang="en-US" sz="2700" b="1" dirty="0" err="1" smtClean="0">
                <a:solidFill>
                  <a:schemeClr val="bg1"/>
                </a:solidFill>
                <a:latin typeface="Work Sans ExtraBold" panose="00000900000000000000" pitchFamily="2" charset="0"/>
                <a:cs typeface="Poppins"/>
                <a:sym typeface="Poppins"/>
              </a:rPr>
              <a:t>CERTIFICADA</a:t>
            </a:r>
            <a:endParaRPr dirty="0">
              <a:solidFill>
                <a:schemeClr val="bg1"/>
              </a:solidFill>
              <a:latin typeface="Work Sans ExtraBold" panose="00000900000000000000" pitchFamily="2" charset="0"/>
            </a:endParaRPr>
          </a:p>
        </p:txBody>
      </p:sp>
      <p:sp>
        <p:nvSpPr>
          <p:cNvPr id="44" name="Google Shape;241;p21"/>
          <p:cNvSpPr/>
          <p:nvPr/>
        </p:nvSpPr>
        <p:spPr>
          <a:xfrm>
            <a:off x="571500" y="2007244"/>
            <a:ext cx="11049000" cy="1905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22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16400" y="2229921"/>
            <a:ext cx="3556800" cy="426487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0;p13"/>
          <p:cNvSpPr txBox="1"/>
          <p:nvPr/>
        </p:nvSpPr>
        <p:spPr>
          <a:xfrm>
            <a:off x="4516424" y="2453018"/>
            <a:ext cx="314695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 smtClean="0">
                <a:solidFill>
                  <a:srgbClr val="FED83E"/>
                </a:solidFill>
                <a:latin typeface="Work Sans" panose="00000800000000000000" pitchFamily="2" charset="0"/>
                <a:ea typeface="Oswald"/>
                <a:cs typeface="Oswald"/>
                <a:sym typeface="Oswald"/>
              </a:rPr>
              <a:t>Evaluación</a:t>
            </a:r>
            <a:r>
              <a:rPr lang="en-US" sz="1650" b="1" i="0" u="none" strike="noStrike" cap="none" dirty="0" smtClean="0">
                <a:solidFill>
                  <a:srgbClr val="FED83E"/>
                </a:solidFill>
                <a:latin typeface="Work Sans" panose="00000800000000000000" pitchFamily="2" charset="0"/>
                <a:ea typeface="Oswald"/>
                <a:cs typeface="Oswald"/>
                <a:sym typeface="Oswald"/>
              </a:rPr>
              <a:t> </a:t>
            </a:r>
            <a:r>
              <a:rPr lang="en-US" sz="1650" b="1" i="0" u="none" strike="noStrike" cap="none" dirty="0" err="1" smtClean="0">
                <a:solidFill>
                  <a:srgbClr val="FED83E"/>
                </a:solidFill>
                <a:latin typeface="Work Sans" panose="00000800000000000000" pitchFamily="2" charset="0"/>
                <a:ea typeface="Oswald"/>
                <a:cs typeface="Oswald"/>
                <a:sym typeface="Oswald"/>
              </a:rPr>
              <a:t>Calidad</a:t>
            </a:r>
            <a:endParaRPr lang="en-US" dirty="0">
              <a:solidFill>
                <a:srgbClr val="FED83E"/>
              </a:solidFill>
              <a:latin typeface="Work Sans" panose="00000800000000000000" pitchFamily="2" charset="0"/>
            </a:endParaRPr>
          </a:p>
        </p:txBody>
      </p:sp>
      <p:pic>
        <p:nvPicPr>
          <p:cNvPr id="2052" name="Picture 4" descr="Archivo:PDV S.A. logo.svg - Wikipedia, la enciclopedia libre"/>
          <p:cNvPicPr>
            <a:picLocks noChangeAspect="1" noChangeArrowheads="1"/>
          </p:cNvPicPr>
          <p:nvPr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049" y="2963835"/>
            <a:ext cx="2861054" cy="795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" name="CuadroTexto 107"/>
          <p:cNvSpPr txBox="1"/>
          <p:nvPr/>
        </p:nvSpPr>
        <p:spPr>
          <a:xfrm>
            <a:off x="5442832" y="3577359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1800" dirty="0" err="1" smtClean="0">
                <a:solidFill>
                  <a:schemeClr val="bg1"/>
                </a:solidFill>
                <a:latin typeface="Work Sans ExtraBold" panose="00000900000000000000" pitchFamily="2" charset="0"/>
              </a:rPr>
              <a:t>INTEVEP</a:t>
            </a:r>
            <a:endParaRPr lang="es-ES" sz="1800" dirty="0">
              <a:solidFill>
                <a:schemeClr val="bg1"/>
              </a:solidFill>
              <a:latin typeface="Work Sans ExtraBold" panose="00000900000000000000" pitchFamily="2" charset="0"/>
            </a:endParaRPr>
          </a:p>
        </p:txBody>
      </p:sp>
      <p:sp>
        <p:nvSpPr>
          <p:cNvPr id="68" name="Google Shape;93;p13"/>
          <p:cNvSpPr/>
          <p:nvPr/>
        </p:nvSpPr>
        <p:spPr>
          <a:xfrm>
            <a:off x="4638980" y="4170131"/>
            <a:ext cx="299724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Work Sans Light" panose="00000400000000000000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105;p13"/>
          <p:cNvSpPr txBox="1"/>
          <p:nvPr/>
        </p:nvSpPr>
        <p:spPr>
          <a:xfrm>
            <a:off x="4934255" y="4424131"/>
            <a:ext cx="2654349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Sistema:</a:t>
            </a:r>
            <a:r>
              <a:rPr lang="en-US" sz="1125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 ISO 9001:2015 &amp; </a:t>
            </a:r>
            <a:r>
              <a:rPr lang="en-US" sz="1125" b="0" i="0" u="none" strike="noStrike" cap="none" dirty="0" err="1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Normas</a:t>
            </a:r>
            <a:r>
              <a:rPr lang="en-US" sz="1125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 </a:t>
            </a:r>
            <a:r>
              <a:rPr lang="en-US" sz="1125" b="0" i="0" u="none" strike="noStrike" cap="none" dirty="0" err="1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Técnicas</a:t>
            </a:r>
            <a:r>
              <a:rPr lang="en-US" sz="1125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 PDVSA</a:t>
            </a:r>
            <a:endParaRPr dirty="0">
              <a:solidFill>
                <a:schemeClr val="bg1"/>
              </a:solidFill>
              <a:latin typeface="Work Sans Light" panose="00000400000000000000" pitchFamily="2" charset="0"/>
            </a:endParaRPr>
          </a:p>
        </p:txBody>
      </p:sp>
      <p:sp>
        <p:nvSpPr>
          <p:cNvPr id="70" name="Google Shape;106;p13"/>
          <p:cNvSpPr txBox="1"/>
          <p:nvPr/>
        </p:nvSpPr>
        <p:spPr>
          <a:xfrm>
            <a:off x="4934255" y="4919431"/>
            <a:ext cx="2654349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Resultado:</a:t>
            </a:r>
            <a:r>
              <a:rPr lang="en-US" sz="1125" b="0" i="0" u="none" strike="noStrike" cap="none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 </a:t>
            </a:r>
            <a:r>
              <a:rPr lang="en-US" sz="1125" b="1" i="0" u="none" strike="noStrike" cap="none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CUMPLE (98%)</a:t>
            </a:r>
            <a:endParaRPr>
              <a:solidFill>
                <a:schemeClr val="bg1"/>
              </a:solidFill>
              <a:latin typeface="Work Sans Light" panose="00000400000000000000" pitchFamily="2" charset="0"/>
            </a:endParaRPr>
          </a:p>
        </p:txBody>
      </p:sp>
      <p:sp>
        <p:nvSpPr>
          <p:cNvPr id="71" name="Google Shape;107;p13"/>
          <p:cNvSpPr txBox="1"/>
          <p:nvPr/>
        </p:nvSpPr>
        <p:spPr>
          <a:xfrm>
            <a:off x="4934255" y="5266051"/>
            <a:ext cx="2654349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Sectores:</a:t>
            </a:r>
            <a:r>
              <a:rPr lang="en-US" sz="1125" b="0" i="0" u="none" strike="noStrike" cap="none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 Perforación e Izamiento de Taladros</a:t>
            </a:r>
            <a:endParaRPr>
              <a:solidFill>
                <a:schemeClr val="bg1"/>
              </a:solidFill>
              <a:latin typeface="Work Sans Light" panose="00000400000000000000" pitchFamily="2" charset="0"/>
            </a:endParaRPr>
          </a:p>
        </p:txBody>
      </p:sp>
      <p:sp>
        <p:nvSpPr>
          <p:cNvPr id="72" name="Google Shape;108;p13"/>
          <p:cNvSpPr txBox="1"/>
          <p:nvPr/>
        </p:nvSpPr>
        <p:spPr>
          <a:xfrm>
            <a:off x="4934255" y="5761351"/>
            <a:ext cx="2654349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Estatus:</a:t>
            </a:r>
            <a:r>
              <a:rPr lang="en-US" sz="1125" b="0" i="0" u="none" strike="noStrike" cap="none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 Proveedor Validado</a:t>
            </a:r>
            <a:endParaRPr>
              <a:solidFill>
                <a:schemeClr val="bg1"/>
              </a:solidFill>
              <a:latin typeface="Work Sans Light" panose="00000400000000000000" pitchFamily="2" charset="0"/>
            </a:endParaRPr>
          </a:p>
        </p:txBody>
      </p:sp>
      <p:sp>
        <p:nvSpPr>
          <p:cNvPr id="73" name="Google Shape;109;p13"/>
          <p:cNvSpPr txBox="1"/>
          <p:nvPr/>
        </p:nvSpPr>
        <p:spPr>
          <a:xfrm>
            <a:off x="4886633" y="6056626"/>
            <a:ext cx="2901999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 </a:t>
            </a:r>
            <a:r>
              <a:rPr lang="en-US" sz="1125" b="1" i="0" u="none" strike="noStrike" cap="none" dirty="0" err="1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Auditoría</a:t>
            </a:r>
            <a:r>
              <a:rPr lang="en-US" sz="1125" b="1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:</a:t>
            </a:r>
            <a:r>
              <a:rPr lang="en-US" sz="1125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 </a:t>
            </a:r>
            <a:r>
              <a:rPr lang="en-US" sz="1125" b="0" i="0" u="none" strike="noStrike" cap="none" dirty="0" err="1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Junio</a:t>
            </a:r>
            <a:r>
              <a:rPr lang="en-US" sz="1125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 2025</a:t>
            </a:r>
            <a:endParaRPr dirty="0">
              <a:solidFill>
                <a:schemeClr val="bg1"/>
              </a:solidFill>
              <a:latin typeface="Work Sans Light" panose="00000400000000000000" pitchFamily="2" charset="0"/>
            </a:endParaRPr>
          </a:p>
        </p:txBody>
      </p:sp>
      <p:pic>
        <p:nvPicPr>
          <p:cNvPr id="74" name="Google Shape;120;p13" descr="image.png"/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686605" y="4452706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121;p13" descr="image.png"/>
          <p:cNvPicPr preferRelativeResize="0"/>
          <p:nvPr/>
        </p:nvPicPr>
        <p:blipFill rotWithShape="1">
          <a:blip r:embed="rId6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686605" y="4948006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122;p13" descr="image.png"/>
          <p:cNvPicPr preferRelativeResize="0"/>
          <p:nvPr/>
        </p:nvPicPr>
        <p:blipFill rotWithShape="1">
          <a:blip r:embed="rId7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686605" y="5294626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123;p13" descr="image.png"/>
          <p:cNvPicPr preferRelativeResize="0"/>
          <p:nvPr/>
        </p:nvPicPr>
        <p:blipFill rotWithShape="1">
          <a:blip r:embed="rId8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686605" y="5789926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22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29921"/>
            <a:ext cx="3556800" cy="426487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98;p13"/>
          <p:cNvSpPr txBox="1"/>
          <p:nvPr/>
        </p:nvSpPr>
        <p:spPr>
          <a:xfrm>
            <a:off x="1066799" y="4493053"/>
            <a:ext cx="2654200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Norma:</a:t>
            </a:r>
            <a:r>
              <a:rPr lang="en-US" sz="1125" b="0" i="0" u="none" strike="noStrike" cap="none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 ISO/IEC 17020:2012</a:t>
            </a:r>
            <a:endParaRPr>
              <a:solidFill>
                <a:schemeClr val="bg1"/>
              </a:solidFill>
              <a:latin typeface="Work Sans Light" panose="00000400000000000000" pitchFamily="2" charset="0"/>
            </a:endParaRPr>
          </a:p>
        </p:txBody>
      </p:sp>
      <p:sp>
        <p:nvSpPr>
          <p:cNvPr id="54" name="Google Shape;99;p13"/>
          <p:cNvSpPr txBox="1"/>
          <p:nvPr/>
        </p:nvSpPr>
        <p:spPr>
          <a:xfrm>
            <a:off x="1066799" y="4788328"/>
            <a:ext cx="2654200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Registro:</a:t>
            </a:r>
            <a:r>
              <a:rPr lang="en-US" sz="1125" b="0" i="0" u="none" strike="noStrike" cap="none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 Nº OI 12/24-01</a:t>
            </a:r>
            <a:endParaRPr>
              <a:solidFill>
                <a:schemeClr val="bg1"/>
              </a:solidFill>
              <a:latin typeface="Work Sans Light" panose="00000400000000000000" pitchFamily="2" charset="0"/>
            </a:endParaRPr>
          </a:p>
        </p:txBody>
      </p:sp>
      <p:sp>
        <p:nvSpPr>
          <p:cNvPr id="55" name="Google Shape;100;p13"/>
          <p:cNvSpPr txBox="1"/>
          <p:nvPr/>
        </p:nvSpPr>
        <p:spPr>
          <a:xfrm>
            <a:off x="1066799" y="5083603"/>
            <a:ext cx="2654200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Entidad:</a:t>
            </a:r>
            <a:r>
              <a:rPr lang="en-US" sz="1125" b="0" i="0" u="none" strike="noStrike" cap="none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 SENCAMER</a:t>
            </a:r>
            <a:endParaRPr>
              <a:solidFill>
                <a:schemeClr val="bg1"/>
              </a:solidFill>
              <a:latin typeface="Work Sans Light" panose="00000400000000000000" pitchFamily="2" charset="0"/>
            </a:endParaRPr>
          </a:p>
        </p:txBody>
      </p:sp>
      <p:sp>
        <p:nvSpPr>
          <p:cNvPr id="56" name="Google Shape;101;p13"/>
          <p:cNvSpPr txBox="1"/>
          <p:nvPr/>
        </p:nvSpPr>
        <p:spPr>
          <a:xfrm>
            <a:off x="1066799" y="5378878"/>
            <a:ext cx="2654200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Tipo:</a:t>
            </a:r>
            <a:r>
              <a:rPr lang="en-US" sz="1125" b="0" i="0" u="none" strike="noStrike" cap="none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 Organismo de Inspección Tipo A</a:t>
            </a:r>
            <a:endParaRPr>
              <a:solidFill>
                <a:schemeClr val="bg1"/>
              </a:solidFill>
              <a:latin typeface="Work Sans Light" panose="00000400000000000000" pitchFamily="2" charset="0"/>
            </a:endParaRPr>
          </a:p>
        </p:txBody>
      </p:sp>
      <p:sp>
        <p:nvSpPr>
          <p:cNvPr id="57" name="Google Shape;102;p13"/>
          <p:cNvSpPr txBox="1"/>
          <p:nvPr/>
        </p:nvSpPr>
        <p:spPr>
          <a:xfrm>
            <a:off x="1066799" y="5674153"/>
            <a:ext cx="2654200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Alcance:</a:t>
            </a:r>
            <a:r>
              <a:rPr lang="en-US" sz="1125" b="0" i="0" u="none" strike="noStrike" cap="none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 25 Actividades Acreditadas</a:t>
            </a:r>
            <a:endParaRPr>
              <a:solidFill>
                <a:schemeClr val="bg1"/>
              </a:solidFill>
              <a:latin typeface="Work Sans Light" panose="00000400000000000000" pitchFamily="2" charset="0"/>
            </a:endParaRPr>
          </a:p>
        </p:txBody>
      </p:sp>
      <p:sp>
        <p:nvSpPr>
          <p:cNvPr id="58" name="Google Shape;103;p13"/>
          <p:cNvSpPr txBox="1"/>
          <p:nvPr/>
        </p:nvSpPr>
        <p:spPr>
          <a:xfrm>
            <a:off x="1019177" y="5969428"/>
            <a:ext cx="2901850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 </a:t>
            </a:r>
            <a:r>
              <a:rPr lang="en-US" sz="1125" b="1" i="0" u="none" strike="noStrike" cap="none" dirty="0" err="1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Vigencia</a:t>
            </a:r>
            <a:r>
              <a:rPr lang="en-US" sz="1125" b="1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:</a:t>
            </a:r>
            <a:r>
              <a:rPr lang="en-US" sz="1125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 </a:t>
            </a:r>
            <a:r>
              <a:rPr lang="en-US" sz="1125" b="1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Hasta </a:t>
            </a:r>
            <a:r>
              <a:rPr lang="en-US" sz="1125" b="1" i="0" u="none" strike="noStrike" cap="none" dirty="0" err="1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Dic</a:t>
            </a:r>
            <a:r>
              <a:rPr lang="en-US" sz="1125" b="1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. 2027</a:t>
            </a:r>
            <a:endParaRPr dirty="0">
              <a:solidFill>
                <a:schemeClr val="bg1"/>
              </a:solidFill>
              <a:latin typeface="Work Sans Light" panose="00000400000000000000" pitchFamily="2" charset="0"/>
            </a:endParaRPr>
          </a:p>
        </p:txBody>
      </p:sp>
      <p:pic>
        <p:nvPicPr>
          <p:cNvPr id="59" name="Google Shape;115;p13" descr="image.png"/>
          <p:cNvPicPr preferRelativeResize="0"/>
          <p:nvPr/>
        </p:nvPicPr>
        <p:blipFill rotWithShape="1">
          <a:blip r:embed="rId9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819149" y="4521628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116;p13" descr="image.png"/>
          <p:cNvPicPr preferRelativeResize="0"/>
          <p:nvPr/>
        </p:nvPicPr>
        <p:blipFill rotWithShape="1">
          <a:blip r:embed="rId10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819149" y="4816903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117;p13" descr="image.png"/>
          <p:cNvPicPr preferRelativeResize="0"/>
          <p:nvPr/>
        </p:nvPicPr>
        <p:blipFill rotWithShape="1">
          <a:blip r:embed="rId11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819149" y="5112178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118;p13" descr="image.png"/>
          <p:cNvPicPr preferRelativeResize="0"/>
          <p:nvPr/>
        </p:nvPicPr>
        <p:blipFill rotWithShape="1">
          <a:blip r:embed="rId12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819149" y="5407453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119;p13" descr="image.png"/>
          <p:cNvPicPr preferRelativeResize="0"/>
          <p:nvPr/>
        </p:nvPicPr>
        <p:blipFill rotWithShape="1">
          <a:blip r:embed="rId13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819149" y="5702728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90;p13"/>
          <p:cNvSpPr txBox="1"/>
          <p:nvPr/>
        </p:nvSpPr>
        <p:spPr>
          <a:xfrm>
            <a:off x="771524" y="2453018"/>
            <a:ext cx="314695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 smtClean="0">
                <a:solidFill>
                  <a:srgbClr val="FED83E"/>
                </a:solidFill>
                <a:latin typeface="Work Sans" panose="00000800000000000000" pitchFamily="2" charset="0"/>
                <a:ea typeface="Oswald"/>
                <a:cs typeface="Oswald"/>
                <a:sym typeface="Oswald"/>
              </a:rPr>
              <a:t>Acreditación</a:t>
            </a:r>
            <a:r>
              <a:rPr lang="en-US" sz="1650" b="1" i="0" u="none" strike="noStrike" cap="none" dirty="0" smtClean="0">
                <a:solidFill>
                  <a:srgbClr val="FED83E"/>
                </a:solidFill>
                <a:latin typeface="Work Sans" panose="00000800000000000000" pitchFamily="2" charset="0"/>
                <a:ea typeface="Oswald"/>
                <a:cs typeface="Oswald"/>
                <a:sym typeface="Oswald"/>
              </a:rPr>
              <a:t> Nacional</a:t>
            </a:r>
            <a:endParaRPr lang="en-US" dirty="0">
              <a:solidFill>
                <a:srgbClr val="FED83E"/>
              </a:solidFill>
              <a:latin typeface="Work Sans" panose="00000800000000000000" pitchFamily="2" charset="0"/>
            </a:endParaRPr>
          </a:p>
        </p:txBody>
      </p:sp>
      <p:pic>
        <p:nvPicPr>
          <p:cNvPr id="51" name="Imagen 5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47333" y="2830918"/>
            <a:ext cx="2014690" cy="1215821"/>
          </a:xfrm>
          <a:prstGeom prst="rect">
            <a:avLst/>
          </a:prstGeom>
        </p:spPr>
      </p:pic>
      <p:pic>
        <p:nvPicPr>
          <p:cNvPr id="112" name="Google Shape;22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58236" y="2199444"/>
            <a:ext cx="3556800" cy="426487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90;p13"/>
          <p:cNvSpPr txBox="1"/>
          <p:nvPr/>
        </p:nvSpPr>
        <p:spPr>
          <a:xfrm>
            <a:off x="8363159" y="2453018"/>
            <a:ext cx="314695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 smtClean="0">
                <a:solidFill>
                  <a:srgbClr val="FED83E"/>
                </a:solidFill>
                <a:latin typeface="Work Sans" panose="00000800000000000000" pitchFamily="2" charset="0"/>
                <a:ea typeface="Oswald"/>
                <a:cs typeface="Oswald"/>
                <a:sym typeface="Oswald"/>
              </a:rPr>
              <a:t>Estándares</a:t>
            </a:r>
            <a:r>
              <a:rPr lang="en-US" sz="1650" b="1" i="0" u="none" strike="noStrike" cap="none" dirty="0" smtClean="0">
                <a:solidFill>
                  <a:srgbClr val="FED83E"/>
                </a:solidFill>
                <a:latin typeface="Work Sans" panose="00000800000000000000" pitchFamily="2" charset="0"/>
                <a:ea typeface="Oswald"/>
                <a:cs typeface="Oswald"/>
                <a:sym typeface="Oswald"/>
              </a:rPr>
              <a:t> </a:t>
            </a:r>
            <a:r>
              <a:rPr lang="en-US" sz="1650" b="1" i="0" u="none" strike="noStrike" cap="none" dirty="0" err="1" smtClean="0">
                <a:solidFill>
                  <a:srgbClr val="FED83E"/>
                </a:solidFill>
                <a:latin typeface="Work Sans" panose="00000800000000000000" pitchFamily="2" charset="0"/>
                <a:ea typeface="Oswald"/>
                <a:cs typeface="Oswald"/>
                <a:sym typeface="Oswald"/>
              </a:rPr>
              <a:t>Aplicados</a:t>
            </a:r>
            <a:endParaRPr dirty="0">
              <a:solidFill>
                <a:srgbClr val="FED83E"/>
              </a:solidFill>
              <a:latin typeface="Work Sans" panose="00000800000000000000" pitchFamily="2" charset="0"/>
            </a:endParaRPr>
          </a:p>
        </p:txBody>
      </p:sp>
      <p:sp>
        <p:nvSpPr>
          <p:cNvPr id="137" name="Google Shape;93;p13"/>
          <p:cNvSpPr/>
          <p:nvPr/>
        </p:nvSpPr>
        <p:spPr>
          <a:xfrm>
            <a:off x="846376" y="4170131"/>
            <a:ext cx="299724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Work Sans Light" panose="00000400000000000000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93;p13"/>
          <p:cNvSpPr/>
          <p:nvPr/>
        </p:nvSpPr>
        <p:spPr>
          <a:xfrm>
            <a:off x="8327826" y="4170131"/>
            <a:ext cx="299724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Work Sans Light" panose="00000400000000000000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127" name="Imagen 126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33" t="17634" r="18029" b="20000"/>
          <a:stretch/>
        </p:blipFill>
        <p:spPr>
          <a:xfrm>
            <a:off x="8913767" y="2694234"/>
            <a:ext cx="1608726" cy="1422349"/>
          </a:xfrm>
          <a:prstGeom prst="rect">
            <a:avLst/>
          </a:prstGeom>
        </p:spPr>
      </p:pic>
      <p:sp>
        <p:nvSpPr>
          <p:cNvPr id="142" name="Google Shape;111;p13"/>
          <p:cNvSpPr txBox="1"/>
          <p:nvPr/>
        </p:nvSpPr>
        <p:spPr>
          <a:xfrm>
            <a:off x="8581675" y="4179656"/>
            <a:ext cx="2648247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Perforación</a:t>
            </a:r>
            <a:r>
              <a:rPr lang="en-US" sz="1125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125" b="0" i="0" u="none" strike="noStrike" cap="none" dirty="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API 5CT, API 7K, </a:t>
            </a:r>
            <a:r>
              <a:rPr lang="en-US" sz="1125" b="0" i="0" u="none" strike="noStrike" cap="none" dirty="0" smtClean="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DS-1</a:t>
            </a:r>
            <a:endParaRPr dirty="0"/>
          </a:p>
        </p:txBody>
      </p:sp>
      <p:sp>
        <p:nvSpPr>
          <p:cNvPr id="143" name="Google Shape;112;p13"/>
          <p:cNvSpPr txBox="1"/>
          <p:nvPr/>
        </p:nvSpPr>
        <p:spPr>
          <a:xfrm>
            <a:off x="8575722" y="4972137"/>
            <a:ext cx="2654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Izamiento</a:t>
            </a:r>
            <a:r>
              <a:rPr lang="en-US" sz="1125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125" b="0" i="0" u="none" strike="noStrike" cap="none" dirty="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API 8B/8C, API 9A/9B, ASME B30 Series (</a:t>
            </a:r>
            <a:r>
              <a:rPr lang="en-US" sz="1125" b="0" i="0" u="none" strike="noStrike" cap="none" dirty="0" err="1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Grúas</a:t>
            </a:r>
            <a:r>
              <a:rPr lang="en-US" sz="1125" b="0" i="0" u="none" strike="noStrike" cap="none" dirty="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125" b="0" i="0" u="none" strike="noStrike" cap="none" dirty="0" err="1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Ganchos</a:t>
            </a:r>
            <a:r>
              <a:rPr lang="en-US" sz="1125" b="0" i="0" u="none" strike="noStrike" cap="none" dirty="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dirty="0"/>
          </a:p>
        </p:txBody>
      </p:sp>
      <p:sp>
        <p:nvSpPr>
          <p:cNvPr id="144" name="Google Shape;113;p13"/>
          <p:cNvSpPr txBox="1"/>
          <p:nvPr/>
        </p:nvSpPr>
        <p:spPr>
          <a:xfrm>
            <a:off x="8575722" y="5467437"/>
            <a:ext cx="2654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Soldadura:</a:t>
            </a:r>
            <a:r>
              <a:rPr lang="en-US" sz="1125" b="0" i="0" u="none" strike="noStrike" cap="non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AWS D1.1 (Estructural), ASME BPVC Sección IX</a:t>
            </a:r>
            <a:endParaRPr/>
          </a:p>
        </p:txBody>
      </p:sp>
      <p:sp>
        <p:nvSpPr>
          <p:cNvPr id="145" name="Google Shape;114;p13"/>
          <p:cNvSpPr txBox="1"/>
          <p:nvPr/>
        </p:nvSpPr>
        <p:spPr>
          <a:xfrm>
            <a:off x="8575722" y="5962737"/>
            <a:ext cx="2654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NDT:</a:t>
            </a:r>
            <a:r>
              <a:rPr lang="en-US" sz="1125" b="0" i="0" u="none" strike="noStrike" cap="non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ASME BPVC Sección V (UT, PT, MT, VT)</a:t>
            </a:r>
            <a:endParaRPr/>
          </a:p>
        </p:txBody>
      </p:sp>
      <p:pic>
        <p:nvPicPr>
          <p:cNvPr id="146" name="Google Shape;124;p13" descr="image.png"/>
          <p:cNvPicPr preferRelativeResize="0"/>
          <p:nvPr/>
        </p:nvPicPr>
        <p:blipFill rotWithShape="1">
          <a:blip r:embed="rId16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8328072" y="4208231"/>
            <a:ext cx="158353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25;p13" descr="image.png"/>
          <p:cNvPicPr preferRelativeResize="0"/>
          <p:nvPr/>
        </p:nvPicPr>
        <p:blipFill rotWithShape="1">
          <a:blip r:embed="rId17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8328072" y="5000712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26;p13" descr="image.png"/>
          <p:cNvPicPr preferRelativeResize="0"/>
          <p:nvPr/>
        </p:nvPicPr>
        <p:blipFill rotWithShape="1">
          <a:blip r:embed="rId18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8328072" y="5496012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27;p13" descr="image.png"/>
          <p:cNvPicPr preferRelativeResize="0"/>
          <p:nvPr/>
        </p:nvPicPr>
        <p:blipFill rotWithShape="1">
          <a:blip r:embed="rId19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8328072" y="5991312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11;p13"/>
          <p:cNvSpPr txBox="1"/>
          <p:nvPr/>
        </p:nvSpPr>
        <p:spPr>
          <a:xfrm>
            <a:off x="8581675" y="4443227"/>
            <a:ext cx="26482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1125" b="1" dirty="0" err="1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Refinería</a:t>
            </a:r>
            <a:r>
              <a:rPr lang="en-US" sz="1125" b="1" i="0" u="none" strike="noStrike" cap="none" dirty="0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125" b="0" i="0" u="none" strike="noStrike" cap="none" dirty="0" smtClean="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fr-FR" sz="1125" dirty="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API , ASME, ASTM , </a:t>
            </a:r>
            <a:r>
              <a:rPr lang="fr-FR" sz="1125" dirty="0" err="1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NACE</a:t>
            </a:r>
            <a:r>
              <a:rPr lang="fr-FR" sz="1125" dirty="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fr-FR" sz="1125" dirty="0" err="1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ASNT</a:t>
            </a:r>
            <a:r>
              <a:rPr lang="fr-FR" sz="1125" dirty="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, ANSI, </a:t>
            </a:r>
            <a:r>
              <a:rPr lang="fr-FR" sz="1125" dirty="0" smtClean="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ISO, entre </a:t>
            </a:r>
            <a:r>
              <a:rPr lang="fr-FR" sz="1125" dirty="0" err="1" smtClean="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otras</a:t>
            </a:r>
            <a:r>
              <a:rPr lang="fr-FR" sz="1125" dirty="0" smtClean="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dirty="0"/>
          </a:p>
        </p:txBody>
      </p:sp>
      <p:pic>
        <p:nvPicPr>
          <p:cNvPr id="152" name="Google Shape;124;p13" descr="image.png"/>
          <p:cNvPicPr preferRelativeResize="0"/>
          <p:nvPr/>
        </p:nvPicPr>
        <p:blipFill rotWithShape="1">
          <a:blip r:embed="rId16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8328072" y="4521628"/>
            <a:ext cx="158353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24" y="2266892"/>
            <a:ext cx="637632" cy="637632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805" y="2259385"/>
            <a:ext cx="576000" cy="57600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8957" y="2304623"/>
            <a:ext cx="576000" cy="576000"/>
          </a:xfrm>
          <a:prstGeom prst="rect">
            <a:avLst/>
          </a:prstGeom>
        </p:spPr>
      </p:pic>
      <p:pic>
        <p:nvPicPr>
          <p:cNvPr id="65" name="Imagen 6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58350" y="224163"/>
            <a:ext cx="2285286" cy="127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84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000E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65673"/>
            <a:ext cx="3555950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765673"/>
            <a:ext cx="3555950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765673"/>
            <a:ext cx="3556099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771525" y="3384798"/>
            <a:ext cx="331369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1.1.1 </a:t>
            </a:r>
            <a:r>
              <a:rPr lang="en-US" sz="1500" b="1" i="0" u="none" strike="noStrike" cap="none" dirty="0" err="1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Tubulares</a:t>
            </a:r>
            <a:r>
              <a:rPr lang="en-US" sz="1500" b="1" i="0" u="none" strike="noStrike" cap="none" dirty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 y </a:t>
            </a:r>
            <a:r>
              <a:rPr lang="en-US" sz="1500" b="1" i="0" u="none" strike="noStrike" cap="none" dirty="0" err="1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BHA</a:t>
            </a:r>
            <a:endParaRPr dirty="0">
              <a:latin typeface="Work Sans" panose="00000800000000000000" pitchFamily="2" charset="0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4517975" y="3384798"/>
            <a:ext cx="331369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1.1.2 </a:t>
            </a:r>
            <a:r>
              <a:rPr lang="en-US" sz="1500" b="1" i="0" u="none" strike="noStrike" cap="none" dirty="0" err="1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Sistemas</a:t>
            </a:r>
            <a:r>
              <a:rPr lang="en-US" sz="1500" b="1" i="0" u="none" strike="noStrike" cap="none" dirty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 de </a:t>
            </a:r>
            <a:r>
              <a:rPr lang="en-US" sz="1500" b="1" i="0" u="none" strike="noStrike" cap="none" dirty="0" err="1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Izamiento</a:t>
            </a:r>
            <a:r>
              <a:rPr lang="en-US" sz="1500" b="1" i="0" u="none" strike="noStrike" cap="none" dirty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 </a:t>
            </a:r>
            <a:r>
              <a:rPr lang="en-US" sz="1500" b="1" dirty="0" err="1" smtClean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en</a:t>
            </a:r>
            <a:r>
              <a:rPr lang="en-US" sz="1500" b="1" dirty="0" smtClean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 </a:t>
            </a:r>
            <a:r>
              <a:rPr lang="en-US" sz="1500" b="1" dirty="0" err="1" smtClean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Taladros</a:t>
            </a:r>
            <a:endParaRPr dirty="0">
              <a:latin typeface="Work Sans" panose="00000800000000000000" pitchFamily="2" charset="0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8264425" y="3384798"/>
            <a:ext cx="3313851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1.1.3 </a:t>
            </a:r>
            <a:r>
              <a:rPr lang="en-US" sz="1500" b="1" i="0" u="none" strike="noStrike" cap="none" dirty="0" err="1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Equipos</a:t>
            </a:r>
            <a:r>
              <a:rPr lang="en-US" sz="1500" b="1" i="0" u="none" strike="noStrike" cap="none" dirty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 de </a:t>
            </a:r>
            <a:r>
              <a:rPr lang="en-US" sz="1500" b="1" i="0" u="none" strike="noStrike" cap="none" dirty="0" err="1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Izamiento</a:t>
            </a:r>
            <a:r>
              <a:rPr lang="en-US" sz="1500" b="1" i="0" u="none" strike="noStrike" cap="none" dirty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 </a:t>
            </a:r>
            <a:r>
              <a:rPr lang="en-US" sz="1500" b="1" i="0" u="none" strike="noStrike" cap="none" dirty="0" smtClean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 </a:t>
            </a:r>
            <a:r>
              <a:rPr lang="en-US" sz="1500" b="1" i="0" u="none" strike="noStrike" cap="none" dirty="0" err="1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Carga</a:t>
            </a:r>
            <a:endParaRPr dirty="0">
              <a:latin typeface="Work Sans" panose="00000800000000000000" pitchFamily="2" charset="0"/>
            </a:endParaRPr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2975223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962025" y="3769881"/>
            <a:ext cx="29654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Tubulares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Perforación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(Drill Pipe, Heavy Weight) y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sustitutos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bajo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norma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DS1 Vol. 3.</a:t>
            </a:r>
            <a:endParaRPr dirty="0"/>
          </a:p>
        </p:txBody>
      </p:sp>
      <p:sp>
        <p:nvSpPr>
          <p:cNvPr id="110" name="Google Shape;110;p15"/>
          <p:cNvSpPr txBox="1"/>
          <p:nvPr/>
        </p:nvSpPr>
        <p:spPr>
          <a:xfrm>
            <a:off x="962025" y="4246131"/>
            <a:ext cx="29654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Componentes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BHA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/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Fondo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(Drill Collar,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MWD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LWD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Martillos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, Motor de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Fondo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, etc.)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bajo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norma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DS1 Vol. 4.</a:t>
            </a:r>
            <a:endParaRPr dirty="0"/>
          </a:p>
        </p:txBody>
      </p:sp>
      <p:sp>
        <p:nvSpPr>
          <p:cNvPr id="111" name="Google Shape;111;p15"/>
          <p:cNvSpPr txBox="1"/>
          <p:nvPr/>
        </p:nvSpPr>
        <p:spPr>
          <a:xfrm>
            <a:off x="962025" y="4979557"/>
            <a:ext cx="29654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Tubulares de Revestimiento (Casing) y Producción (Tubing) bajo norma API 5CT.</a:t>
            </a:r>
            <a:endParaRPr/>
          </a:p>
        </p:txBody>
      </p:sp>
      <p:pic>
        <p:nvPicPr>
          <p:cNvPr id="112" name="Google Shape;11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17975" y="2975223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4708475" y="3912303"/>
            <a:ext cx="29654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Inspección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Sistemas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Izamiento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Taladros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Perforación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y Work Over (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Cabilleros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4708475" y="4602865"/>
            <a:ext cx="29654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Servicios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con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equipos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especializados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: Coiled Tubing,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Guaya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Fina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Medidores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Multifásicos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, Hot Oil, Flush By, Vacuum y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Chuto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64425" y="2975223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8454925" y="4026603"/>
            <a:ext cx="2965549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Incluye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Puente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Grúa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Montacargas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Grúas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Móviles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Manlift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y Brazos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Hidráulicos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(entre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otros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1388119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1.1 </a:t>
            </a:r>
            <a:r>
              <a:rPr lang="en-US" sz="2700" b="1" i="0" u="none" strike="noStrike" cap="none" dirty="0" err="1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INSPECCIÓN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Y </a:t>
            </a:r>
            <a:r>
              <a:rPr lang="en-US" sz="2700" b="1" i="0" u="none" strike="noStrike" cap="none" dirty="0" err="1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CERTIFICACIÓN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</a:t>
            </a:r>
            <a:r>
              <a:rPr lang="en-US" sz="2700" b="1" dirty="0" err="1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PERFORACIÓN</a:t>
            </a:r>
            <a:r>
              <a:rPr lang="en-US" sz="2700" b="1" dirty="0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Y </a:t>
            </a:r>
            <a:r>
              <a:rPr lang="en-US" sz="2700" b="1" dirty="0" err="1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PRODUCCCIÓN</a:t>
            </a:r>
            <a:r>
              <a:rPr lang="en-US" sz="2700" b="1" dirty="0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(</a:t>
            </a:r>
            <a:r>
              <a:rPr lang="en-US" sz="2700" b="1" i="0" u="none" strike="noStrike" cap="none" dirty="0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UPSTREAM) 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(1/2)</a:t>
            </a:r>
            <a:endParaRPr dirty="0">
              <a:solidFill>
                <a:schemeClr val="bg1"/>
              </a:solidFill>
              <a:latin typeface="Work Sans ExtraBold" panose="00000900000000000000" pitchFamily="2" charset="0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571500" y="2278713"/>
            <a:ext cx="11049000" cy="1905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1525" y="3841998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1525" y="4318248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1525" y="5051674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17975" y="4013448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17975" y="4704010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64425" y="4127748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Imagen 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58350" y="224163"/>
            <a:ext cx="2285286" cy="12756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000E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01391"/>
            <a:ext cx="3555950" cy="2995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801391"/>
            <a:ext cx="3555950" cy="2995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801391"/>
            <a:ext cx="3556099" cy="2995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17975" y="3001416"/>
            <a:ext cx="31559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771525" y="3420516"/>
            <a:ext cx="331369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1.1.4 Equipos de Movimiento de Tierra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517975" y="3420516"/>
            <a:ext cx="331369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1.1.5 Ensayos No Destructivos (NDT)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264425" y="3420516"/>
            <a:ext cx="331385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1.1.6 Inspección Mecánica</a:t>
            </a:r>
            <a:endParaRPr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3010941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962025" y="4076835"/>
            <a:ext cx="29654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Equipos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Pesados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Movimiento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Tierra: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Retroexcavadoras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Payloader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, Side Boom y Jumbo (entre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otros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4708475" y="4076835"/>
            <a:ext cx="29654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Técnicas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NDT: Visual,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Líquidos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Penetrantes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Partículas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Magnéticas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Secas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Húmedas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) y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Ultrasonido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4708475" y="4767398"/>
            <a:ext cx="29654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Medición de Propiedades: Verificación Dimensional, Medición de Espesores y Dureza.</a:t>
            </a:r>
            <a:endParaRPr/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64425" y="3010941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8454925" y="3791085"/>
            <a:ext cx="2965549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Medición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Tolerancias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Geométricas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Dimensionales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componentes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clave </a:t>
            </a:r>
            <a:r>
              <a:rPr lang="en-US" sz="1125" dirty="0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de </a:t>
            </a:r>
            <a:r>
              <a:rPr lang="en-US" sz="1125" dirty="0" err="1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Equipos</a:t>
            </a:r>
            <a:r>
              <a:rPr lang="en-US" sz="1125" dirty="0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125" dirty="0" err="1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125" dirty="0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dirty="0" err="1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sistemas</a:t>
            </a:r>
            <a:r>
              <a:rPr lang="en-US" sz="1125" dirty="0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dirty="0" err="1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125" dirty="0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dirty="0" err="1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taladros</a:t>
            </a:r>
            <a:endParaRPr dirty="0"/>
          </a:p>
        </p:txBody>
      </p:sp>
      <p:sp>
        <p:nvSpPr>
          <p:cNvPr id="143" name="Google Shape;143;p16"/>
          <p:cNvSpPr txBox="1"/>
          <p:nvPr/>
        </p:nvSpPr>
        <p:spPr>
          <a:xfrm>
            <a:off x="8454925" y="4596854"/>
            <a:ext cx="29655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Verificación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estado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desgaste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cumplimiento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estricto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especificaciones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API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estructuras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soporte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acoplamientos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componentes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mayores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46" name="Google Shape;146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1525" y="4163466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17975" y="4163466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17975" y="4854029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64425" y="3877716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64425" y="4676229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58" t="17143" r="26309" b="33757"/>
          <a:stretch/>
        </p:blipFill>
        <p:spPr>
          <a:xfrm>
            <a:off x="4535387" y="2948306"/>
            <a:ext cx="413630" cy="325296"/>
          </a:xfrm>
          <a:prstGeom prst="rect">
            <a:avLst/>
          </a:prstGeom>
        </p:spPr>
      </p:pic>
      <p:sp>
        <p:nvSpPr>
          <p:cNvPr id="30" name="Google Shape;117;p15"/>
          <p:cNvSpPr txBox="1"/>
          <p:nvPr/>
        </p:nvSpPr>
        <p:spPr>
          <a:xfrm>
            <a:off x="571500" y="1388119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1.1 </a:t>
            </a:r>
            <a:r>
              <a:rPr lang="en-US" sz="2700" b="1" i="0" u="none" strike="noStrike" cap="none" dirty="0" err="1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INSPECCIÓN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Y </a:t>
            </a:r>
            <a:r>
              <a:rPr lang="en-US" sz="2700" b="1" i="0" u="none" strike="noStrike" cap="none" dirty="0" err="1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CERTIFICACIÓN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</a:t>
            </a:r>
            <a:r>
              <a:rPr lang="en-US" sz="2700" b="1" dirty="0" err="1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PERFORACIÓN</a:t>
            </a:r>
            <a:r>
              <a:rPr lang="en-US" sz="2700" b="1" dirty="0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Y </a:t>
            </a:r>
            <a:r>
              <a:rPr lang="en-US" sz="2700" b="1" dirty="0" err="1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PRODUCCCIÓN</a:t>
            </a:r>
            <a:r>
              <a:rPr lang="en-US" sz="2700" b="1" dirty="0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(</a:t>
            </a:r>
            <a:r>
              <a:rPr lang="en-US" sz="2700" b="1" i="0" u="none" strike="noStrike" cap="none" dirty="0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UPSTREAM) (2/2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)</a:t>
            </a:r>
            <a:endParaRPr dirty="0">
              <a:solidFill>
                <a:schemeClr val="bg1"/>
              </a:solidFill>
              <a:latin typeface="Work Sans ExtraBold" panose="00000900000000000000" pitchFamily="2" charset="0"/>
            </a:endParaRPr>
          </a:p>
        </p:txBody>
      </p:sp>
      <p:sp>
        <p:nvSpPr>
          <p:cNvPr id="31" name="Google Shape;118;p15"/>
          <p:cNvSpPr/>
          <p:nvPr/>
        </p:nvSpPr>
        <p:spPr>
          <a:xfrm>
            <a:off x="571500" y="2278713"/>
            <a:ext cx="11049000" cy="1905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000E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55" name="Google Shape;15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37123"/>
            <a:ext cx="54292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2937123"/>
            <a:ext cx="54292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3137148"/>
            <a:ext cx="50292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771525" y="3556248"/>
            <a:ext cx="52806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1.2.1 Integridad de Equipos Estáticos y END Básico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85829" y="4018208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Servicios</a:t>
            </a:r>
            <a:r>
              <a:rPr lang="en-US" sz="1200" b="1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Medición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Espesores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(UT),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Inspección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Visual y de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Soldaduras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(PT, MT).</a:t>
            </a:r>
            <a:endParaRPr dirty="0"/>
          </a:p>
        </p:txBody>
      </p:sp>
      <p:sp>
        <p:nvSpPr>
          <p:cNvPr id="161" name="Google Shape;161;p17"/>
          <p:cNvSpPr txBox="1"/>
          <p:nvPr/>
        </p:nvSpPr>
        <p:spPr>
          <a:xfrm>
            <a:off x="905827" y="4561135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Equipos</a:t>
            </a:r>
            <a:r>
              <a:rPr lang="en-US" sz="1200" b="1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1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Evaluados</a:t>
            </a:r>
            <a:r>
              <a:rPr lang="en-US" sz="1200" b="1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Tuberías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Aéreas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Recipientes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Presión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Tanques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Almacenamiento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Hornos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y Calderas.</a:t>
            </a:r>
            <a:endParaRPr dirty="0"/>
          </a:p>
        </p:txBody>
      </p:sp>
      <p:sp>
        <p:nvSpPr>
          <p:cNvPr id="162" name="Google Shape;162;p17"/>
          <p:cNvSpPr txBox="1"/>
          <p:nvPr/>
        </p:nvSpPr>
        <p:spPr>
          <a:xfrm>
            <a:off x="6391275" y="3556248"/>
            <a:ext cx="52806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1.2.2 </a:t>
            </a:r>
            <a:r>
              <a:rPr lang="en-US" sz="1500" b="1" i="0" u="none" strike="noStrike" cap="none" dirty="0" err="1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Diagnóstico</a:t>
            </a:r>
            <a:r>
              <a:rPr lang="en-US" sz="1500" b="1" i="0" u="none" strike="noStrike" cap="none" dirty="0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1500" b="1" i="0" u="none" strike="noStrike" cap="none" dirty="0" err="1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Confiabilidad</a:t>
            </a:r>
            <a:r>
              <a:rPr lang="en-US" sz="1500" b="1" i="0" u="none" strike="noStrike" cap="none" dirty="0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00" b="1" i="0" u="none" strike="noStrike" cap="none" dirty="0" err="1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Predictiva</a:t>
            </a:r>
            <a:endParaRPr dirty="0"/>
          </a:p>
        </p:txBody>
      </p:sp>
      <p:pic>
        <p:nvPicPr>
          <p:cNvPr id="163" name="Google Shape;16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3146673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6581775" y="3984873"/>
            <a:ext cx="48387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Diagnóstico Dinámico (Vibración):</a:t>
            </a:r>
            <a:r>
              <a:rPr lang="en-US" sz="1125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Análisis de Vibración para Equipos Rotativos (Bombas, Compresores, Motores y Turbinas).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581775" y="4461123"/>
            <a:ext cx="48387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Diagnóstico Térmico (Termografía):</a:t>
            </a:r>
            <a:r>
              <a:rPr lang="en-US" sz="1125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Inspección Predictiva para Sistemas Eléctricos y Térmicos (Hornos, Calderas, Subestaciones y Tableros).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71500" y="1388119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1.2 </a:t>
            </a:r>
            <a:r>
              <a:rPr lang="en-US" sz="2700" b="1" dirty="0" err="1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INSPECCIÓN</a:t>
            </a:r>
            <a:r>
              <a:rPr lang="en-US" sz="2700" b="1" dirty="0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Y </a:t>
            </a:r>
            <a:r>
              <a:rPr lang="en-US" sz="2700" b="1" dirty="0" err="1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CERTIFICACIÓN</a:t>
            </a:r>
            <a:r>
              <a:rPr lang="en-US" sz="2700" b="1" dirty="0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</a:t>
            </a:r>
            <a:r>
              <a:rPr lang="en-US" sz="2700" b="1" dirty="0" err="1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EN</a:t>
            </a:r>
            <a:r>
              <a:rPr lang="en-US" sz="2700" b="1" dirty="0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</a:t>
            </a:r>
            <a:r>
              <a:rPr lang="en-US" sz="2700" b="1" dirty="0" err="1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REFINERÍAS</a:t>
            </a:r>
            <a:r>
              <a:rPr lang="en-US" sz="2700" b="1" dirty="0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Y </a:t>
            </a:r>
            <a:r>
              <a:rPr lang="en-US" sz="2700" b="1" dirty="0" err="1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PLANTAS</a:t>
            </a:r>
            <a:r>
              <a:rPr lang="en-US" sz="2700" b="1" dirty="0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 (</a:t>
            </a:r>
            <a:r>
              <a:rPr lang="en-US" sz="2700" b="1" i="0" u="none" strike="noStrike" cap="none" dirty="0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DOWNSTREAM) (2/2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)</a:t>
            </a:r>
            <a:endParaRPr dirty="0">
              <a:solidFill>
                <a:schemeClr val="bg1"/>
              </a:solidFill>
              <a:latin typeface="Work Sans ExtraBold" panose="00000900000000000000" pitchFamily="2" charset="0"/>
            </a:endParaRPr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91275" y="4084888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91275" y="4561138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697" y="3096145"/>
            <a:ext cx="460103" cy="460103"/>
          </a:xfrm>
          <a:prstGeom prst="rect">
            <a:avLst/>
          </a:prstGeom>
        </p:spPr>
      </p:pic>
      <p:sp>
        <p:nvSpPr>
          <p:cNvPr id="22" name="Google Shape;118;p15"/>
          <p:cNvSpPr/>
          <p:nvPr/>
        </p:nvSpPr>
        <p:spPr>
          <a:xfrm>
            <a:off x="571500" y="2278713"/>
            <a:ext cx="11049000" cy="1905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16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0562" y="4084888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6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0562" y="4665913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Imagen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58350" y="224163"/>
            <a:ext cx="2285286" cy="12756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000E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4" name="Google Shape;17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75235"/>
            <a:ext cx="542925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3075235"/>
            <a:ext cx="5429250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771525" y="3694360"/>
            <a:ext cx="52806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1.2.3 Inspección END Avanzada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391275" y="3694360"/>
            <a:ext cx="52806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1.2.4 Pruebas de Certificación e Identificación</a:t>
            </a:r>
            <a:endParaRPr/>
          </a:p>
        </p:txBody>
      </p:sp>
      <p:pic>
        <p:nvPicPr>
          <p:cNvPr id="179" name="Google Shape;17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328478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962025" y="4122985"/>
            <a:ext cx="48387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Inspección Volumétrica:</a:t>
            </a:r>
            <a:r>
              <a:rPr lang="en-US" sz="1125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Phase Array y Mapeo de Corrosión.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962025" y="4384923"/>
            <a:ext cx="48387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Largo Alcance:</a:t>
            </a:r>
            <a:r>
              <a:rPr lang="en-US" sz="1125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Onda Guiada para tuberías enterradas (2" a 60").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962025" y="4646860"/>
            <a:ext cx="48387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Evaluación de Revestimientos:</a:t>
            </a:r>
            <a:r>
              <a:rPr lang="en-US" sz="1125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Técnica ACVG para líneas enterradas.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962025" y="4908798"/>
            <a:ext cx="48387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Inspección</a:t>
            </a:r>
            <a:r>
              <a:rPr lang="en-US" sz="1125" b="1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1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Interna</a:t>
            </a:r>
            <a:r>
              <a:rPr lang="en-US" sz="1125" b="1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Boroscopia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84" name="Google Shape;18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1275" y="3284785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6581775" y="4122985"/>
            <a:ext cx="48387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Pruebas de Integridad:</a:t>
            </a:r>
            <a:r>
              <a:rPr lang="en-US" sz="1125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Prueba Hidrostática (Presión) y END para Intercambiadores de Calor (Corrientes Inducidas).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581775" y="4629715"/>
            <a:ext cx="4838700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Identificación</a:t>
            </a:r>
            <a:r>
              <a:rPr lang="en-US" sz="1125" b="1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125" b="1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Materiales</a:t>
            </a:r>
            <a:r>
              <a:rPr lang="en-US" sz="1125" b="1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(PMI):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Análisis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composición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química</a:t>
            </a:r>
            <a:endParaRPr dirty="0"/>
          </a:p>
        </p:txBody>
      </p:sp>
      <p:pic>
        <p:nvPicPr>
          <p:cNvPr id="189" name="Google Shape;189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4211085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4474931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4721155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4998333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91275" y="4197280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91275" y="4711630"/>
            <a:ext cx="11430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166;p17"/>
          <p:cNvSpPr txBox="1"/>
          <p:nvPr/>
        </p:nvSpPr>
        <p:spPr>
          <a:xfrm>
            <a:off x="571500" y="1388119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1.2 </a:t>
            </a:r>
            <a:r>
              <a:rPr lang="en-US" sz="2700" b="1" dirty="0" err="1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INSPECCIÓN</a:t>
            </a:r>
            <a:r>
              <a:rPr lang="en-US" sz="2700" b="1" dirty="0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Y </a:t>
            </a:r>
            <a:r>
              <a:rPr lang="en-US" sz="2700" b="1" dirty="0" err="1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CERTIFICACIÓN</a:t>
            </a:r>
            <a:r>
              <a:rPr lang="en-US" sz="2700" b="1" dirty="0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</a:t>
            </a:r>
            <a:r>
              <a:rPr lang="en-US" sz="2700" b="1" dirty="0" err="1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EN</a:t>
            </a:r>
            <a:r>
              <a:rPr lang="en-US" sz="2700" b="1" dirty="0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</a:t>
            </a:r>
            <a:r>
              <a:rPr lang="en-US" sz="2700" b="1" dirty="0" err="1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REFINERÍAS</a:t>
            </a:r>
            <a:r>
              <a:rPr lang="en-US" sz="2700" b="1" dirty="0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Y </a:t>
            </a:r>
            <a:r>
              <a:rPr lang="en-US" sz="2700" b="1" dirty="0" err="1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PLANTAS</a:t>
            </a:r>
            <a:r>
              <a:rPr lang="en-US" sz="2700" b="1" dirty="0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 (</a:t>
            </a:r>
            <a:r>
              <a:rPr lang="en-US" sz="2700" b="1" i="0" u="none" strike="noStrike" cap="none" dirty="0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DOWNSTREAM) (2/2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)</a:t>
            </a:r>
            <a:endParaRPr dirty="0">
              <a:solidFill>
                <a:schemeClr val="bg1"/>
              </a:solidFill>
              <a:latin typeface="Work Sans ExtraBold" panose="00000900000000000000" pitchFamily="2" charset="0"/>
            </a:endParaRPr>
          </a:p>
        </p:txBody>
      </p:sp>
      <p:sp>
        <p:nvSpPr>
          <p:cNvPr id="26" name="Google Shape;118;p15"/>
          <p:cNvSpPr/>
          <p:nvPr/>
        </p:nvSpPr>
        <p:spPr>
          <a:xfrm>
            <a:off x="571500" y="2278713"/>
            <a:ext cx="11049000" cy="1905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8350" y="224163"/>
            <a:ext cx="2285286" cy="12756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000E">
              <a:alpha val="4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1" name="Google Shape;201;p19"/>
          <p:cNvSpPr txBox="1"/>
          <p:nvPr/>
        </p:nvSpPr>
        <p:spPr>
          <a:xfrm>
            <a:off x="295275" y="2869555"/>
            <a:ext cx="116014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2. </a:t>
            </a:r>
            <a:r>
              <a:rPr lang="en-US" sz="3600" b="1" dirty="0" err="1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FABRICACIÓN</a:t>
            </a:r>
            <a:r>
              <a:rPr lang="en-US" sz="3600" b="1" dirty="0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, </a:t>
            </a:r>
            <a:r>
              <a:rPr lang="en-US" sz="3600" b="1" dirty="0" err="1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REACONDICIONAMIENTO</a:t>
            </a:r>
            <a:r>
              <a:rPr lang="en-US" sz="3600" b="1" dirty="0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Y </a:t>
            </a:r>
            <a:r>
              <a:rPr lang="en-US" sz="3600" b="1" dirty="0" err="1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RESTAURACIÓN</a:t>
            </a:r>
            <a:r>
              <a:rPr lang="en-US" sz="3600" b="1" dirty="0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DE </a:t>
            </a:r>
            <a:r>
              <a:rPr lang="en-US" sz="3600" b="1" dirty="0" err="1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ACTIVOS</a:t>
            </a:r>
            <a:r>
              <a:rPr lang="en-US" sz="3600" b="1" dirty="0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CRÍTICOS</a:t>
            </a:r>
            <a:endParaRPr sz="3600" b="1" dirty="0">
              <a:solidFill>
                <a:srgbClr val="FFFFFF"/>
              </a:solidFill>
              <a:latin typeface="Work Sans ExtraBold" panose="00000900000000000000" pitchFamily="2" charset="0"/>
              <a:ea typeface="Poppins"/>
              <a:cs typeface="Poppins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414338" y="4431655"/>
            <a:ext cx="1136332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 smtClean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Ofrecemos</a:t>
            </a:r>
            <a:r>
              <a:rPr lang="en-US" sz="1800" b="0" i="0" u="none" strike="noStrike" cap="none" dirty="0" smtClean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la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solución</a:t>
            </a:r>
            <a:r>
              <a:rPr lang="en-US" sz="1800" b="0" i="0" u="none" strike="noStrike" cap="none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restauración</a:t>
            </a:r>
            <a:r>
              <a:rPr lang="en-US" sz="1800" b="0" i="0" u="none" strike="noStrike" cap="none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y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fabricación</a:t>
            </a:r>
            <a:r>
              <a:rPr lang="en-US" sz="1800" b="0" i="0" u="none" strike="noStrike" cap="none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componentes</a:t>
            </a:r>
            <a:r>
              <a:rPr lang="en-US" sz="1800" b="0" i="0" u="none" strike="noStrike" cap="none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cerrando</a:t>
            </a:r>
            <a:r>
              <a:rPr lang="en-US" sz="1800" b="0" i="0" u="none" strike="noStrike" cap="none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el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ciclo</a:t>
            </a:r>
            <a:r>
              <a:rPr lang="en-US" sz="1800" b="0" i="0" u="none" strike="noStrike" cap="none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integridad</a:t>
            </a:r>
            <a:r>
              <a:rPr lang="en-US" sz="1800" b="0" i="0" u="none" strike="noStrike" cap="none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al </a:t>
            </a:r>
            <a:r>
              <a:rPr lang="en-US" sz="1800" b="0" i="0" u="none" strike="noStrike" cap="none" dirty="0" err="1" smtClean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fabricar</a:t>
            </a:r>
            <a:r>
              <a:rPr lang="en-US" sz="1800" b="0" i="0" u="none" strike="noStrike" cap="none" dirty="0" smtClean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y/o </a:t>
            </a:r>
            <a:r>
              <a:rPr lang="en-US" sz="1800" b="0" i="0" u="none" strike="noStrike" cap="none" dirty="0" err="1" smtClean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reparar</a:t>
            </a:r>
            <a:r>
              <a:rPr lang="en-US" sz="1800" b="0" i="0" u="none" strike="noStrike" cap="none" dirty="0" smtClean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los</a:t>
            </a:r>
            <a:r>
              <a:rPr lang="en-US" sz="1800" b="0" i="0" u="none" strike="noStrike" cap="none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equipos</a:t>
            </a:r>
            <a:r>
              <a:rPr lang="en-US" sz="1800" b="0" i="0" u="none" strike="noStrike" cap="none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diagnosticados</a:t>
            </a:r>
            <a:r>
              <a:rPr lang="en-US" sz="1800" b="0" i="0" u="none" strike="noStrike" cap="none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en</a:t>
            </a:r>
            <a:r>
              <a:rPr lang="en-US" sz="1800" b="0" i="0" u="none" strike="noStrike" cap="none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el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pilar</a:t>
            </a:r>
            <a:r>
              <a:rPr lang="en-US" sz="1800" b="0" i="0" u="none" strike="noStrike" cap="none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1, con un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enfoque</a:t>
            </a:r>
            <a:r>
              <a:rPr lang="en-US" sz="1800" b="0" i="0" u="none" strike="noStrike" cap="none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dual </a:t>
            </a:r>
            <a:r>
              <a:rPr lang="en-US" sz="1800" b="0" i="0" u="none" strike="noStrike" cap="none" dirty="0" err="1" smtClean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Perforación</a:t>
            </a:r>
            <a:r>
              <a:rPr lang="en-US" sz="1800" b="0" i="0" u="none" strike="noStrike" cap="none" dirty="0" smtClean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– </a:t>
            </a:r>
            <a:r>
              <a:rPr lang="en-US" sz="1800" b="0" i="0" u="none" strike="noStrike" cap="none" dirty="0" err="1" smtClean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Producción</a:t>
            </a:r>
            <a:r>
              <a:rPr lang="en-US" sz="1800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y</a:t>
            </a:r>
            <a:r>
              <a:rPr lang="en-US" sz="1800" dirty="0" smtClean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800" dirty="0" err="1" smtClean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Plantas</a:t>
            </a:r>
            <a:r>
              <a:rPr lang="en-US" sz="1800" dirty="0" smtClean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- </a:t>
            </a:r>
            <a:r>
              <a:rPr lang="en-US" sz="1800" dirty="0" err="1" smtClean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Refinerias</a:t>
            </a:r>
            <a:r>
              <a:rPr lang="en-US" sz="1800" dirty="0" smtClean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endParaRPr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 panose="000004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308" y="390972"/>
            <a:ext cx="3565385" cy="1990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5000" b="-15000"/>
          </a:stretch>
        </a:blip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000E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07" name="Google Shape;20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91891"/>
            <a:ext cx="5429250" cy="2614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2991891"/>
            <a:ext cx="5429250" cy="261461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771525" y="3611016"/>
            <a:ext cx="528066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2.1 </a:t>
            </a:r>
            <a:r>
              <a:rPr lang="en-US" sz="1500" b="1" i="0" u="none" strike="noStrike" cap="none" dirty="0" err="1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Reacondicionamiento</a:t>
            </a:r>
            <a:r>
              <a:rPr lang="en-US" sz="1500" b="1" i="0" u="none" strike="noStrike" cap="none" dirty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 y </a:t>
            </a:r>
            <a:r>
              <a:rPr lang="en-US" sz="1500" b="1" i="0" u="none" strike="noStrike" cap="none" dirty="0" err="1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Fabricación</a:t>
            </a:r>
            <a:r>
              <a:rPr lang="en-US" sz="1500" b="1" i="0" u="none" strike="noStrike" cap="none" dirty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 de </a:t>
            </a:r>
            <a:r>
              <a:rPr lang="en-US" sz="1500" b="1" i="0" u="none" strike="noStrike" cap="none" dirty="0" err="1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Roscas</a:t>
            </a:r>
            <a:endParaRPr dirty="0">
              <a:latin typeface="Work Sans" panose="00000800000000000000" pitchFamily="2" charset="0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6391275" y="3611016"/>
            <a:ext cx="528066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2.4 </a:t>
            </a:r>
            <a:r>
              <a:rPr lang="en-US" sz="1500" b="1" i="0" u="none" strike="noStrike" cap="none" dirty="0" err="1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Reparación</a:t>
            </a:r>
            <a:r>
              <a:rPr lang="en-US" sz="1500" b="1" i="0" u="none" strike="noStrike" cap="none" dirty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 </a:t>
            </a:r>
            <a:r>
              <a:rPr lang="en-US" sz="1500" b="1" i="0" u="none" strike="noStrike" cap="none" dirty="0" smtClean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de </a:t>
            </a:r>
            <a:r>
              <a:rPr lang="en-US" sz="1500" b="1" i="0" u="none" strike="noStrike" cap="none" dirty="0" err="1" smtClean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Taladro</a:t>
            </a:r>
            <a:r>
              <a:rPr lang="en-US" sz="1500" b="1" i="0" u="none" strike="noStrike" cap="none" dirty="0" smtClean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 y </a:t>
            </a:r>
            <a:r>
              <a:rPr lang="en-US" sz="1500" b="1" i="0" u="none" strike="noStrike" cap="none" dirty="0" err="1" smtClean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Elementos</a:t>
            </a:r>
            <a:r>
              <a:rPr lang="en-US" sz="1500" b="1" i="0" u="none" strike="noStrike" cap="none" dirty="0" smtClean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 de </a:t>
            </a:r>
            <a:r>
              <a:rPr lang="en-US" sz="1500" b="1" i="0" u="none" strike="noStrike" cap="none" dirty="0" err="1" smtClean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sus</a:t>
            </a:r>
            <a:r>
              <a:rPr lang="en-US" sz="1500" b="1" i="0" u="none" strike="noStrike" cap="none" dirty="0" smtClean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 smtClean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Sistemas</a:t>
            </a:r>
            <a:r>
              <a:rPr lang="en-US" sz="1500" b="1" i="0" u="none" strike="noStrike" cap="none" dirty="0" smtClean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 (</a:t>
            </a:r>
            <a:r>
              <a:rPr lang="en-US" sz="1500" b="1" i="0" u="none" strike="noStrike" cap="none" dirty="0" err="1" smtClean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Izamiento</a:t>
            </a:r>
            <a:r>
              <a:rPr lang="en-US" sz="1500" b="1" i="0" u="none" strike="noStrike" cap="none" dirty="0" smtClean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, </a:t>
            </a:r>
            <a:r>
              <a:rPr lang="en-US" sz="1500" b="1" i="0" u="none" strike="noStrike" cap="none" dirty="0" err="1" smtClean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Rotación</a:t>
            </a:r>
            <a:r>
              <a:rPr lang="en-US" sz="1500" b="1" i="0" u="none" strike="noStrike" cap="none" dirty="0" smtClean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, </a:t>
            </a:r>
            <a:r>
              <a:rPr lang="en-US" sz="1500" b="1" i="0" u="none" strike="noStrike" cap="none" dirty="0" err="1" smtClean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Seguridad</a:t>
            </a:r>
            <a:r>
              <a:rPr lang="en-US" sz="1500" b="1" i="0" u="none" strike="noStrike" cap="none" dirty="0" smtClean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)</a:t>
            </a:r>
            <a:endParaRPr dirty="0">
              <a:latin typeface="Work Sans" panose="00000800000000000000" pitchFamily="2" charset="0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6505575" y="4160742"/>
            <a:ext cx="50292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Reconstrucción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y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fabricación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piezas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específicas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,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incluyendo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el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mecanizado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precisión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, para el Sistema de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Izamiento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Taladros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Perforación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(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Cabilleros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,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componentes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mayores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, etc.)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conforme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a las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especificaciones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técnicas</a:t>
            </a:r>
            <a:r>
              <a:rPr lang="en-US" sz="12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.</a:t>
            </a:r>
            <a:endParaRPr dirty="0">
              <a:latin typeface="Work Sans Light" panose="00000400000000000000" pitchFamily="2" charset="0"/>
            </a:endParaRPr>
          </a:p>
        </p:txBody>
      </p:sp>
      <p:pic>
        <p:nvPicPr>
          <p:cNvPr id="213" name="Google Shape;21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3201441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962025" y="4043267"/>
            <a:ext cx="483870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Reparación</a:t>
            </a:r>
            <a:r>
              <a:rPr lang="en-US" sz="1125" b="1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</a:t>
            </a:r>
            <a:r>
              <a:rPr lang="en-US" sz="1125" b="1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Roscas</a:t>
            </a:r>
            <a:r>
              <a:rPr lang="en-US" sz="1125" b="1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: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Fabricación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y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reparación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en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tubulares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(Drill Pipe, Tubing, Casing)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bajo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normas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API, Premium,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STC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,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LTC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.</a:t>
            </a:r>
            <a:endParaRPr dirty="0">
              <a:latin typeface="Work Sans Light" panose="00000400000000000000" pitchFamily="2" charset="0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962025" y="4519517"/>
            <a:ext cx="483870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Roscas Especializadas:</a:t>
            </a:r>
            <a:r>
              <a:rPr lang="en-US" sz="1125" b="0" i="0" u="none" strike="noStrike" cap="none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Capacidad para fabricar roscas específicas como Stud Acme.</a:t>
            </a:r>
            <a:endParaRPr>
              <a:latin typeface="Work Sans Light" panose="00000400000000000000" pitchFamily="2" charset="0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962025" y="4995767"/>
            <a:ext cx="483870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Hardbanding: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Aplicación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bandas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duras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 smtClean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en</a:t>
            </a:r>
            <a:r>
              <a:rPr lang="en-US" sz="1125" b="0" i="0" u="none" strike="noStrike" cap="none" dirty="0" smtClean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tool </a:t>
            </a:r>
            <a:r>
              <a:rPr lang="en-US" sz="1125" b="0" i="0" u="none" strike="noStrike" cap="none" dirty="0" smtClean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joints y </a:t>
            </a:r>
            <a:r>
              <a:rPr lang="en-US" sz="1125" b="0" i="0" u="none" strike="noStrike" cap="none" dirty="0" err="1" smtClean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otras</a:t>
            </a:r>
            <a:r>
              <a:rPr lang="en-US" sz="1125" b="0" i="0" u="none" strike="noStrike" cap="none" dirty="0" smtClean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zonas </a:t>
            </a:r>
            <a:r>
              <a:rPr lang="en-US" sz="1125" b="0" i="0" u="none" strike="noStrike" cap="none" dirty="0" err="1" smtClean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criticas</a:t>
            </a:r>
            <a:r>
              <a:rPr lang="en-US" sz="1125" b="0" i="0" u="none" strike="noStrike" cap="none" dirty="0" smtClean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las </a:t>
            </a:r>
            <a:r>
              <a:rPr lang="en-US" sz="1125" b="0" i="0" u="none" strike="noStrike" cap="none" dirty="0" err="1" smtClean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tuberias</a:t>
            </a:r>
            <a:r>
              <a:rPr lang="en-US" sz="1125" b="0" i="0" u="none" strike="noStrike" cap="none" dirty="0" smtClean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y </a:t>
            </a:r>
            <a:r>
              <a:rPr lang="en-US" sz="1125" b="0" i="0" u="none" strike="noStrike" cap="none" dirty="0" err="1" smtClean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BHA</a:t>
            </a:r>
            <a:r>
              <a:rPr lang="en-US" sz="1125" b="0" i="0" u="none" strike="noStrike" cap="none" dirty="0" smtClean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.</a:t>
            </a:r>
            <a:endParaRPr dirty="0">
              <a:latin typeface="Work Sans Light" panose="00000400000000000000" pitchFamily="2" charset="0"/>
            </a:endParaRPr>
          </a:p>
        </p:txBody>
      </p:sp>
      <p:pic>
        <p:nvPicPr>
          <p:cNvPr id="217" name="Google Shape;21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3201441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571500" y="1388119"/>
            <a:ext cx="116014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SOLUCIONES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DE TALLER: </a:t>
            </a:r>
            <a:r>
              <a:rPr lang="en-US" sz="2700" b="1" dirty="0" err="1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PERFORACIÓN</a:t>
            </a:r>
            <a:r>
              <a:rPr lang="en-US" sz="2700" b="1" dirty="0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Y </a:t>
            </a:r>
            <a:r>
              <a:rPr lang="en-US" sz="2700" b="1" dirty="0" err="1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PRODUCCIÓN</a:t>
            </a:r>
            <a:endParaRPr dirty="0">
              <a:solidFill>
                <a:schemeClr val="bg1"/>
              </a:solidFill>
              <a:latin typeface="Work Sans ExtraBold" panose="00000900000000000000" pitchFamily="2" charset="0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571500" y="2007244"/>
            <a:ext cx="11049000" cy="1905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4135342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4611592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5087842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2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69038" y="4262342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8350" y="224163"/>
            <a:ext cx="2285286" cy="12756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000E">
              <a:alpha val="4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27" name="Google Shape;22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49016"/>
            <a:ext cx="5429250" cy="290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2849016"/>
            <a:ext cx="5429250" cy="290036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771525" y="3468141"/>
            <a:ext cx="528066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2.2 </a:t>
            </a:r>
            <a:r>
              <a:rPr lang="en-US" sz="1500" b="1" i="0" u="none" strike="noStrike" cap="none" dirty="0" err="1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Reparación</a:t>
            </a:r>
            <a:r>
              <a:rPr lang="en-US" sz="1500" b="1" i="0" u="none" strike="noStrike" cap="none" dirty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 de </a:t>
            </a:r>
            <a:r>
              <a:rPr lang="en-US" sz="1500" b="1" i="0" u="none" strike="noStrike" cap="none" dirty="0" err="1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Equipos</a:t>
            </a:r>
            <a:r>
              <a:rPr lang="en-US" sz="1500" b="1" i="0" u="none" strike="noStrike" cap="none" dirty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 </a:t>
            </a:r>
            <a:r>
              <a:rPr lang="en-US" sz="1500" b="1" i="0" u="none" strike="noStrike" cap="none" dirty="0" err="1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Estáticos</a:t>
            </a:r>
            <a:endParaRPr dirty="0">
              <a:latin typeface="Work Sans" panose="00000800000000000000" pitchFamily="2" charset="0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771525" y="4001541"/>
            <a:ext cx="50292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Servicios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: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Reacondicionamiento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,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soldadura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reparación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y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corrección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defectos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dimensionales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en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bg1"/>
              </a:solidFill>
              <a:latin typeface="Work Sans Light" panose="00000400000000000000" pitchFamily="2" charset="0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6391275" y="3468141"/>
            <a:ext cx="528066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2.3 </a:t>
            </a:r>
            <a:r>
              <a:rPr lang="en-US" sz="1500" b="1" i="0" u="none" strike="noStrike" cap="none" dirty="0" err="1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Reparación</a:t>
            </a:r>
            <a:r>
              <a:rPr lang="en-US" sz="1500" b="1" i="0" u="none" strike="noStrike" cap="none" dirty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 Integral de </a:t>
            </a:r>
            <a:r>
              <a:rPr lang="en-US" sz="1500" b="1" i="0" u="none" strike="noStrike" cap="none" dirty="0" err="1" smtClean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Equipos</a:t>
            </a:r>
            <a:r>
              <a:rPr lang="en-US" sz="1500" b="1" i="0" u="none" strike="noStrike" cap="none" dirty="0" smtClean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 </a:t>
            </a:r>
            <a:r>
              <a:rPr lang="en-US" sz="1500" b="1" i="0" u="none" strike="noStrike" cap="none" dirty="0" err="1" smtClean="0">
                <a:solidFill>
                  <a:srgbClr val="FFCC00"/>
                </a:solidFill>
                <a:latin typeface="Work Sans" panose="00000800000000000000" pitchFamily="2" charset="0"/>
                <a:ea typeface="Poppins"/>
                <a:cs typeface="Poppins"/>
                <a:sym typeface="Poppins"/>
              </a:rPr>
              <a:t>Rotativos</a:t>
            </a:r>
            <a:endParaRPr dirty="0">
              <a:latin typeface="Work Sans" panose="00000800000000000000" pitchFamily="2" charset="0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6391275" y="4001541"/>
            <a:ext cx="50292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Servicios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: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Desmontaje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,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inspección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,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alineación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,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balanceo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,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mecanizado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y </a:t>
            </a:r>
            <a:r>
              <a:rPr lang="en-US" sz="1200" b="0" i="0" u="none" strike="noStrike" cap="none" dirty="0" err="1" smtClean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ensamblaje</a:t>
            </a:r>
            <a:r>
              <a:rPr lang="en-US" sz="1200" dirty="0" smtClean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, </a:t>
            </a:r>
            <a:r>
              <a:rPr lang="en-US" sz="1200" dirty="0" err="1" smtClean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prueba</a:t>
            </a:r>
            <a:r>
              <a:rPr lang="en-US" sz="1200" dirty="0" smtClean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</a:t>
            </a:r>
            <a:r>
              <a:rPr lang="en-US" sz="1200" dirty="0" err="1" smtClean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presión</a:t>
            </a:r>
            <a:r>
              <a:rPr lang="en-US" sz="1200" dirty="0" smtClean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.</a:t>
            </a:r>
            <a:endParaRPr dirty="0">
              <a:solidFill>
                <a:schemeClr val="bg1"/>
              </a:solidFill>
              <a:latin typeface="Work Sans Light" panose="00000400000000000000" pitchFamily="2" charset="0"/>
            </a:endParaRPr>
          </a:p>
        </p:txBody>
      </p:sp>
      <p:pic>
        <p:nvPicPr>
          <p:cNvPr id="234" name="Google Shape;23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3058566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962025" y="4658766"/>
            <a:ext cx="4838700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Recipientes a Presión y Tanques de Almacenamiento.</a:t>
            </a:r>
            <a:endParaRPr>
              <a:solidFill>
                <a:schemeClr val="bg1"/>
              </a:solidFill>
              <a:latin typeface="Work Sans Light" panose="00000400000000000000" pitchFamily="2" charset="0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962025" y="4920704"/>
            <a:ext cx="4838700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Tuberías, Válvulas y Estructuras Fijas.</a:t>
            </a:r>
            <a:endParaRPr>
              <a:solidFill>
                <a:schemeClr val="bg1"/>
              </a:solidFill>
              <a:latin typeface="Work Sans Light" panose="00000400000000000000" pitchFamily="2" charset="0"/>
            </a:endParaRPr>
          </a:p>
        </p:txBody>
      </p:sp>
      <p:pic>
        <p:nvPicPr>
          <p:cNvPr id="237" name="Google Shape;23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1275" y="3058566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6581775" y="4658766"/>
            <a:ext cx="4838700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Accionadores</a:t>
            </a:r>
            <a:r>
              <a:rPr lang="en-US" sz="1125" b="1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:</a:t>
            </a:r>
            <a:r>
              <a:rPr lang="en-US" sz="1125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Motores</a:t>
            </a:r>
            <a:r>
              <a:rPr lang="en-US" sz="1125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Eléctricos</a:t>
            </a:r>
            <a:r>
              <a:rPr lang="en-US" sz="1125" b="0" i="0" u="none" strike="noStrike" cap="none" dirty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y </a:t>
            </a:r>
            <a:r>
              <a:rPr lang="en-US" sz="1125" b="0" i="0" u="none" strike="noStrike" cap="none" dirty="0" err="1" smtClean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Turbinas</a:t>
            </a:r>
            <a:r>
              <a:rPr lang="en-US" sz="1125" dirty="0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.</a:t>
            </a:r>
            <a:endParaRPr dirty="0">
              <a:solidFill>
                <a:schemeClr val="bg1"/>
              </a:solidFill>
              <a:latin typeface="Work Sans Light" panose="00000400000000000000" pitchFamily="2" charset="0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6581775" y="4920704"/>
            <a:ext cx="483870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Equipos Conducidos:</a:t>
            </a:r>
            <a:r>
              <a:rPr lang="en-US" sz="1125" b="0" i="0" u="none" strike="noStrike" cap="none">
                <a:solidFill>
                  <a:schemeClr val="bg1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Bombas (BB1/OH), Compresores, Sopladores, Ventiladores, Cajas de Engranajes.</a:t>
            </a:r>
            <a:endParaRPr>
              <a:solidFill>
                <a:schemeClr val="bg1"/>
              </a:solidFill>
              <a:latin typeface="Work Sans Light" panose="00000400000000000000" pitchFamily="2" charset="0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571500" y="1388119"/>
            <a:ext cx="116014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SOLUCIONES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DE TALLER: </a:t>
            </a:r>
            <a:r>
              <a:rPr lang="en-US" sz="2700" b="1" dirty="0" err="1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REFINERíA</a:t>
            </a:r>
            <a:r>
              <a:rPr lang="en-US" sz="2700" b="1" dirty="0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Y </a:t>
            </a:r>
            <a:r>
              <a:rPr lang="en-US" sz="2700" b="1" dirty="0" err="1" smtClean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PLANTAS</a:t>
            </a:r>
            <a:endParaRPr dirty="0">
              <a:solidFill>
                <a:schemeClr val="bg1"/>
              </a:solidFill>
              <a:latin typeface="Work Sans ExtraBold" panose="00000900000000000000" pitchFamily="2" charset="0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571500" y="2007244"/>
            <a:ext cx="11049000" cy="1905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4730205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4992143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91275" y="4754023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91275" y="5015961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Imagen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8350" y="224163"/>
            <a:ext cx="2285286" cy="12756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000E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51" name="Google Shape;25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91736"/>
            <a:ext cx="11049000" cy="2214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4" y="3994398"/>
            <a:ext cx="561975" cy="63862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1724025" y="3577113"/>
            <a:ext cx="96964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Servicios</a:t>
            </a:r>
            <a:r>
              <a:rPr lang="en-US" sz="1600" b="1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: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Ejecución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trabajos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devastación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y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remoción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material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utilizando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equipos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alto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rendimiento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como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Tornos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,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Fresadoras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,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Mandriladora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,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Taladros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y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Cortadora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.</a:t>
            </a:r>
            <a:endParaRPr sz="2000" dirty="0">
              <a:latin typeface="Work Sans Light" panose="00000400000000000000" pitchFamily="2" charset="0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1724025" y="4459762"/>
            <a:ext cx="96964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Fabricación</a:t>
            </a:r>
            <a:r>
              <a:rPr lang="en-US" sz="1600" b="1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</a:t>
            </a:r>
            <a:r>
              <a:rPr lang="en-US" sz="1600" b="1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Componentes</a:t>
            </a:r>
            <a:r>
              <a:rPr lang="en-US" sz="1600" b="1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: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Creación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Herramientas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y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Piezas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especializadas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bajo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plano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o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muestra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para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atender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necesidades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operacionales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 no </a:t>
            </a:r>
            <a:r>
              <a:rPr lang="en-US" sz="1600" b="0" i="0" u="none" strike="noStrike" cap="none" dirty="0" err="1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estándar</a:t>
            </a:r>
            <a:r>
              <a:rPr lang="en-US" sz="1600" b="0" i="0" u="none" strike="noStrike" cap="none" dirty="0">
                <a:solidFill>
                  <a:srgbClr val="E0E0E0"/>
                </a:solidFill>
                <a:latin typeface="Work Sans Light" panose="00000400000000000000" pitchFamily="2" charset="0"/>
                <a:ea typeface="Lato"/>
                <a:cs typeface="Lato"/>
                <a:sym typeface="Lato"/>
              </a:rPr>
              <a:t>.</a:t>
            </a:r>
            <a:endParaRPr sz="2000" dirty="0">
              <a:latin typeface="Work Sans Light" panose="00000400000000000000" pitchFamily="2" charset="0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571500" y="1388119"/>
            <a:ext cx="116014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 panose="020B0604020202020204" charset="0"/>
                <a:sym typeface="Poppins"/>
              </a:rPr>
              <a:t>2.5 </a:t>
            </a:r>
            <a:r>
              <a:rPr lang="en-US" sz="2700" b="1" i="0" u="none" strike="noStrike" cap="none" dirty="0" err="1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 panose="020B0604020202020204" charset="0"/>
                <a:sym typeface="Poppins"/>
              </a:rPr>
              <a:t>MECANIZADO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 panose="020B0604020202020204" charset="0"/>
                <a:sym typeface="Poppins"/>
              </a:rPr>
              <a:t> GENERAL Y DE </a:t>
            </a:r>
            <a:r>
              <a:rPr lang="en-US" sz="2700" b="1" i="0" u="none" strike="noStrike" cap="none" dirty="0" err="1">
                <a:solidFill>
                  <a:schemeClr val="bg1"/>
                </a:solidFill>
                <a:latin typeface="Work Sans ExtraBold" panose="00000900000000000000" pitchFamily="2" charset="0"/>
                <a:ea typeface="Poppins"/>
                <a:cs typeface="Poppins" panose="020B0604020202020204" charset="0"/>
                <a:sym typeface="Poppins"/>
              </a:rPr>
              <a:t>PRECISIÓN</a:t>
            </a:r>
            <a:endParaRPr dirty="0">
              <a:solidFill>
                <a:schemeClr val="bg1"/>
              </a:solidFill>
              <a:latin typeface="Work Sans ExtraBold" panose="00000900000000000000" pitchFamily="2" charset="0"/>
              <a:cs typeface="Poppins" panose="020B0604020202020204" charset="0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571500" y="2007244"/>
            <a:ext cx="11049000" cy="1905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33525" y="3721350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33525" y="4633026"/>
            <a:ext cx="114300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000E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5" name="Google Shape;265;p23"/>
          <p:cNvSpPr txBox="1"/>
          <p:nvPr/>
        </p:nvSpPr>
        <p:spPr>
          <a:xfrm>
            <a:off x="690324" y="3212455"/>
            <a:ext cx="1081135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3. </a:t>
            </a:r>
            <a:r>
              <a:rPr lang="en-US" sz="3600" b="1" dirty="0" err="1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SOLDADURA</a:t>
            </a:r>
            <a:r>
              <a:rPr lang="en-US" sz="3600" b="1" dirty="0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Y </a:t>
            </a:r>
            <a:r>
              <a:rPr lang="en-US" sz="3600" b="1" dirty="0" err="1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FABRICACIÓN</a:t>
            </a:r>
            <a:r>
              <a:rPr lang="en-US" sz="3600" b="1" dirty="0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Work Sans ExtraBold" panose="00000900000000000000" pitchFamily="2" charset="0"/>
                <a:ea typeface="Poppins"/>
                <a:cs typeface="Poppins"/>
                <a:sym typeface="Poppins"/>
              </a:rPr>
              <a:t>ESTRUCTURAL</a:t>
            </a:r>
            <a:endParaRPr sz="3600" b="1" dirty="0">
              <a:solidFill>
                <a:srgbClr val="FFFFFF"/>
              </a:solidFill>
              <a:latin typeface="Work Sans ExtraBold" panose="00000900000000000000" pitchFamily="2" charset="0"/>
              <a:ea typeface="Poppins"/>
              <a:cs typeface="Poppins"/>
            </a:endParaRPr>
          </a:p>
        </p:txBody>
      </p:sp>
      <p:sp>
        <p:nvSpPr>
          <p:cNvPr id="266" name="Google Shape;266;p23"/>
          <p:cNvSpPr txBox="1"/>
          <p:nvPr/>
        </p:nvSpPr>
        <p:spPr>
          <a:xfrm>
            <a:off x="1809750" y="4088755"/>
            <a:ext cx="85725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Especialización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en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trabajos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soldadura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para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reparación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materiales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críticos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y la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construcción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infraestructura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complementada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con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servicios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soporte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logístico</a:t>
            </a:r>
            <a:r>
              <a:rPr lang="en-US" sz="1800" b="0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anose="00000400000000000000" pitchFamily="2" charset="0"/>
                <a:ea typeface="Lato"/>
                <a:cs typeface="Lato"/>
                <a:sym typeface="Lato"/>
              </a:rPr>
              <a:t>.</a:t>
            </a:r>
            <a:endParaRPr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 panose="00000400000000000000" pitchFamily="2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308" y="390972"/>
            <a:ext cx="3565385" cy="1990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000E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71" name="Google Shape;27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99048"/>
            <a:ext cx="5429250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3099048"/>
            <a:ext cx="542925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 txBox="1"/>
          <p:nvPr/>
        </p:nvSpPr>
        <p:spPr>
          <a:xfrm>
            <a:off x="771525" y="3718173"/>
            <a:ext cx="52806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3.1 Soldadura Especializada y Estructural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6391275" y="3718173"/>
            <a:ext cx="52806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3.2 Servicios de Soporte y Calibración</a:t>
            </a:r>
            <a:endParaRPr/>
          </a:p>
        </p:txBody>
      </p:sp>
      <p:pic>
        <p:nvPicPr>
          <p:cNvPr id="276" name="Google Shape;276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3308598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962025" y="4146798"/>
            <a:ext cx="48387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Soldadura de Tuberías:</a:t>
            </a:r>
            <a:r>
              <a:rPr lang="en-US" sz="1125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Trabajos de soldadura en campo para Tendido, Instalación y Reparación de Líneas de Tubería (Piping).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962025" y="4623048"/>
            <a:ext cx="48387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Reparaciones de Soldaduras de Aceros Aleados y Especiales.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962025" y="4884985"/>
            <a:ext cx="48387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Fabricación Estructural.</a:t>
            </a:r>
            <a:endParaRPr/>
          </a:p>
        </p:txBody>
      </p:sp>
      <p:pic>
        <p:nvPicPr>
          <p:cNvPr id="280" name="Google Shape;280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1275" y="3308598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4"/>
          <p:cNvSpPr txBox="1"/>
          <p:nvPr/>
        </p:nvSpPr>
        <p:spPr>
          <a:xfrm>
            <a:off x="6581775" y="4146798"/>
            <a:ext cx="48387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Alquiler de Máquinas de Soldar.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6581775" y="4408735"/>
            <a:ext cx="483870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Alquiler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Camiones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Tendido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125" b="0" i="0" u="none" strike="noStrike" cap="none" dirty="0" err="1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Tubulares</a:t>
            </a:r>
            <a:r>
              <a:rPr lang="en-US" sz="1125" b="0" i="0" u="none" strike="noStrike" cap="none" dirty="0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125" b="0" i="0" u="none" strike="noStrike" cap="none" dirty="0" err="1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Servicios</a:t>
            </a:r>
            <a:r>
              <a:rPr lang="en-US" sz="1125" b="0" i="0" u="none" strike="noStrike" cap="none" dirty="0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125" b="0" i="0" u="none" strike="noStrike" cap="none" dirty="0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Taladros</a:t>
            </a:r>
            <a:r>
              <a:rPr lang="en-US" sz="1125" b="0" i="0" u="none" strike="noStrike" cap="none" dirty="0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125" b="0" i="0" u="none" strike="noStrike" cap="none" dirty="0" err="1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Plantas</a:t>
            </a:r>
            <a:r>
              <a:rPr lang="en-US" sz="1125" b="0" i="0" u="none" strike="noStrike" cap="none" dirty="0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83" name="Google Shape;283;p24"/>
          <p:cNvSpPr txBox="1"/>
          <p:nvPr/>
        </p:nvSpPr>
        <p:spPr>
          <a:xfrm>
            <a:off x="6581775" y="4951660"/>
            <a:ext cx="4838700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Inspección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Calibración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Verificación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125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Máquinas</a:t>
            </a:r>
            <a:r>
              <a:rPr lang="en-US" sz="1125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125" b="0" i="0" u="none" strike="noStrike" cap="none" dirty="0" err="1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Soldar</a:t>
            </a:r>
            <a:r>
              <a:rPr lang="en-US" sz="1125" b="0" i="0" u="none" strike="noStrike" cap="none" dirty="0" smtClean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84" name="Google Shape;284;p24"/>
          <p:cNvSpPr txBox="1"/>
          <p:nvPr/>
        </p:nvSpPr>
        <p:spPr>
          <a:xfrm>
            <a:off x="571500" y="1388119"/>
            <a:ext cx="116014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INFRAESTRUCTURA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700" b="1" i="0" u="none" strike="noStrike" cap="none" dirty="0" err="1" smtClean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SOPORTE</a:t>
            </a:r>
            <a:r>
              <a:rPr lang="en-US" sz="2700" b="1" i="0" u="none" strike="noStrike" cap="none" dirty="0" smtClean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571500" y="2007244"/>
            <a:ext cx="11049000" cy="1905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4213473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4689723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4951660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91275" y="4226173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91275" y="4488110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91275" y="5013572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Imagen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8350" y="224163"/>
            <a:ext cx="2285286" cy="12756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ángulo 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000E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Rectángulo 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000E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6" name="Google Shape;102;p13"/>
          <p:cNvSpPr txBox="1"/>
          <p:nvPr/>
        </p:nvSpPr>
        <p:spPr>
          <a:xfrm>
            <a:off x="1433274" y="3637522"/>
            <a:ext cx="66675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chemeClr val="bg1"/>
                </a:solidFill>
                <a:latin typeface="Work Sans" panose="00000800000000000000" pitchFamily="2" charset="0"/>
                <a:ea typeface="Roboto"/>
                <a:cs typeface="Roboto"/>
                <a:sym typeface="Roboto"/>
              </a:rPr>
              <a:t>TELÉFONOS</a:t>
            </a:r>
            <a:endParaRPr sz="2400" dirty="0">
              <a:solidFill>
                <a:schemeClr val="bg1"/>
              </a:solidFill>
              <a:latin typeface="Work Sans" panose="00000800000000000000" pitchFamily="2" charset="0"/>
            </a:endParaRPr>
          </a:p>
        </p:txBody>
      </p:sp>
      <p:sp>
        <p:nvSpPr>
          <p:cNvPr id="68" name="Google Shape;104;p13"/>
          <p:cNvSpPr txBox="1"/>
          <p:nvPr/>
        </p:nvSpPr>
        <p:spPr>
          <a:xfrm>
            <a:off x="1433274" y="4633368"/>
            <a:ext cx="306306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 smtClean="0">
                <a:solidFill>
                  <a:schemeClr val="bg1"/>
                </a:solidFill>
                <a:latin typeface="Work Sans" panose="00000800000000000000" pitchFamily="2" charset="0"/>
                <a:ea typeface="Roboto"/>
                <a:cs typeface="Roboto"/>
                <a:sym typeface="Roboto"/>
              </a:rPr>
              <a:t>CORREO</a:t>
            </a:r>
            <a:r>
              <a:rPr lang="en-US" sz="1600" b="1" i="0" u="none" strike="noStrike" cap="none" dirty="0" smtClean="0">
                <a:solidFill>
                  <a:schemeClr val="bg1"/>
                </a:solidFill>
                <a:latin typeface="Work Sans" panose="00000800000000000000" pitchFamily="2" charset="0"/>
                <a:ea typeface="Roboto"/>
                <a:cs typeface="Roboto"/>
                <a:sym typeface="Roboto"/>
              </a:rPr>
              <a:t> Y WEB</a:t>
            </a:r>
          </a:p>
          <a:p>
            <a:pPr lvl="0"/>
            <a:r>
              <a:rPr lang="en-US" sz="1600" dirty="0" smtClean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iwcaventas@gmail.com</a:t>
            </a:r>
            <a:endParaRPr lang="en-US" sz="1600" dirty="0">
              <a:solidFill>
                <a:schemeClr val="bg1"/>
              </a:solidFill>
              <a:latin typeface="Work Sans Light" panose="00000400000000000000" pitchFamily="2" charset="0"/>
              <a:ea typeface="Roboto"/>
              <a:cs typeface="Roboto"/>
              <a:sym typeface="Roboto"/>
            </a:endParaRPr>
          </a:p>
          <a:p>
            <a:pPr lvl="0"/>
            <a:r>
              <a:rPr lang="en-US" sz="1600" dirty="0" smtClean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inspectionworkca@gmail.com</a:t>
            </a:r>
            <a:endParaRPr sz="2400" dirty="0">
              <a:solidFill>
                <a:schemeClr val="bg1"/>
              </a:solidFill>
              <a:latin typeface="Work Sans" panose="00000800000000000000" pitchFamily="2" charset="0"/>
            </a:endParaRPr>
          </a:p>
        </p:txBody>
      </p:sp>
      <p:sp>
        <p:nvSpPr>
          <p:cNvPr id="71" name="Google Shape;107;p13"/>
          <p:cNvSpPr txBox="1"/>
          <p:nvPr/>
        </p:nvSpPr>
        <p:spPr>
          <a:xfrm>
            <a:off x="1433274" y="3912943"/>
            <a:ext cx="3039316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bg1"/>
              </a:solidFill>
              <a:latin typeface="Work Sans Light" panose="00000400000000000000" pitchFamily="2" charset="0"/>
            </a:endParaRPr>
          </a:p>
        </p:txBody>
      </p:sp>
      <p:sp>
        <p:nvSpPr>
          <p:cNvPr id="72" name="Google Shape;108;p13"/>
          <p:cNvSpPr txBox="1"/>
          <p:nvPr/>
        </p:nvSpPr>
        <p:spPr>
          <a:xfrm>
            <a:off x="1433274" y="3886078"/>
            <a:ext cx="3039316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bg1"/>
              </a:solidFill>
              <a:latin typeface="Work Sans Light" panose="00000400000000000000" pitchFamily="2" charset="0"/>
            </a:endParaRPr>
          </a:p>
        </p:txBody>
      </p:sp>
      <p:sp>
        <p:nvSpPr>
          <p:cNvPr id="73" name="Google Shape;109;p13"/>
          <p:cNvSpPr txBox="1"/>
          <p:nvPr/>
        </p:nvSpPr>
        <p:spPr>
          <a:xfrm>
            <a:off x="1433274" y="4146974"/>
            <a:ext cx="3039316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bg1"/>
              </a:solidFill>
              <a:latin typeface="Work Sans Light" panose="00000400000000000000" pitchFamily="2" charset="0"/>
            </a:endParaRPr>
          </a:p>
        </p:txBody>
      </p:sp>
      <p:sp>
        <p:nvSpPr>
          <p:cNvPr id="74" name="Google Shape;110;p13"/>
          <p:cNvSpPr txBox="1"/>
          <p:nvPr/>
        </p:nvSpPr>
        <p:spPr>
          <a:xfrm>
            <a:off x="1433274" y="4146974"/>
            <a:ext cx="3039316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bg1"/>
              </a:solidFill>
              <a:latin typeface="Work Sans Light" panose="00000400000000000000" pitchFamily="2" charset="0"/>
            </a:endParaRPr>
          </a:p>
        </p:txBody>
      </p:sp>
      <p:sp>
        <p:nvSpPr>
          <p:cNvPr id="78" name="Google Shape;95;p14"/>
          <p:cNvSpPr txBox="1"/>
          <p:nvPr/>
        </p:nvSpPr>
        <p:spPr>
          <a:xfrm>
            <a:off x="295275" y="2259955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err="1" smtClean="0">
                <a:solidFill>
                  <a:srgbClr val="FFFFFF"/>
                </a:solidFill>
                <a:latin typeface="Work Sans ExtraBold" panose="00000900000000000000" pitchFamily="2" charset="0"/>
                <a:cs typeface="Poppins"/>
                <a:sym typeface="Poppins"/>
              </a:rPr>
              <a:t>CONTÁCTANOS</a:t>
            </a:r>
            <a:endParaRPr dirty="0">
              <a:latin typeface="Work Sans ExtraBold" panose="00000900000000000000" pitchFamily="2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56" t="24722" r="25277" b="25834"/>
          <a:stretch/>
        </p:blipFill>
        <p:spPr>
          <a:xfrm>
            <a:off x="703106" y="3670178"/>
            <a:ext cx="546675" cy="61200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64" y="2682522"/>
            <a:ext cx="579159" cy="74504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91" t="23384" r="15938" b="22590"/>
          <a:stretch/>
        </p:blipFill>
        <p:spPr>
          <a:xfrm>
            <a:off x="610954" y="4677206"/>
            <a:ext cx="680178" cy="506355"/>
          </a:xfrm>
          <a:prstGeom prst="rect">
            <a:avLst/>
          </a:prstGeom>
        </p:spPr>
      </p:pic>
      <p:sp>
        <p:nvSpPr>
          <p:cNvPr id="83" name="Google Shape;102;p13"/>
          <p:cNvSpPr txBox="1"/>
          <p:nvPr/>
        </p:nvSpPr>
        <p:spPr>
          <a:xfrm>
            <a:off x="1433274" y="2761841"/>
            <a:ext cx="66675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 smtClean="0">
                <a:solidFill>
                  <a:schemeClr val="bg1"/>
                </a:solidFill>
                <a:latin typeface="Work Sans" panose="00000800000000000000" pitchFamily="2" charset="0"/>
                <a:cs typeface="Roboto"/>
                <a:sym typeface="Roboto"/>
              </a:rPr>
              <a:t>DIRECCIÓN</a:t>
            </a:r>
            <a:endParaRPr lang="en-US" sz="1600" b="1" dirty="0" smtClean="0">
              <a:solidFill>
                <a:schemeClr val="bg1"/>
              </a:solidFill>
              <a:latin typeface="Work Sans" panose="00000800000000000000" pitchFamily="2" charset="0"/>
              <a:cs typeface="Roboto"/>
              <a:sym typeface="Roboto"/>
            </a:endParaRPr>
          </a:p>
          <a:p>
            <a:r>
              <a:rPr lang="en-US" sz="1600" dirty="0" err="1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Calle</a:t>
            </a:r>
            <a:r>
              <a:rPr lang="en-US" sz="1600" dirty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 Bolívar, </a:t>
            </a:r>
            <a:r>
              <a:rPr lang="en-US" sz="1600" dirty="0" err="1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Edificio</a:t>
            </a:r>
            <a:r>
              <a:rPr lang="en-US" sz="1600" dirty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 Inspection Work,</a:t>
            </a:r>
            <a:r>
              <a:rPr lang="en-US" sz="1600" dirty="0">
                <a:solidFill>
                  <a:schemeClr val="bg1"/>
                </a:solidFill>
                <a:latin typeface="Work Sans Light" panose="00000400000000000000" pitchFamily="2" charset="0"/>
                <a:ea typeface="Calibri"/>
                <a:cs typeface="Calibri"/>
                <a:sym typeface="Calibri"/>
              </a:rPr>
              <a:t/>
            </a:r>
            <a:br>
              <a:rPr lang="en-US" sz="1600" dirty="0">
                <a:solidFill>
                  <a:schemeClr val="bg1"/>
                </a:solidFill>
                <a:latin typeface="Work Sans Light" panose="00000400000000000000" pitchFamily="2" charset="0"/>
                <a:ea typeface="Calibri"/>
                <a:cs typeface="Calibri"/>
                <a:sym typeface="Calibri"/>
              </a:rPr>
            </a:br>
            <a:r>
              <a:rPr lang="en-US" sz="1600" dirty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Sector "</a:t>
            </a:r>
            <a:r>
              <a:rPr lang="en-US" sz="1600" dirty="0" err="1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Viento</a:t>
            </a:r>
            <a:r>
              <a:rPr lang="en-US" sz="1600" dirty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 Fresco", </a:t>
            </a:r>
            <a:r>
              <a:rPr lang="en-US" sz="1600" dirty="0" err="1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Anaco</a:t>
            </a:r>
            <a:r>
              <a:rPr lang="en-US" sz="1600" dirty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, Venezuela.</a:t>
            </a:r>
            <a:endParaRPr lang="en-US" sz="1600" dirty="0">
              <a:solidFill>
                <a:schemeClr val="bg1"/>
              </a:solidFill>
              <a:latin typeface="Work Sans Light" panose="00000400000000000000" pitchFamily="2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bg1"/>
              </a:solidFill>
              <a:latin typeface="Work Sans" panose="00000800000000000000" pitchFamily="2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0" t="28611" r="25000" b="30000"/>
          <a:stretch/>
        </p:blipFill>
        <p:spPr>
          <a:xfrm>
            <a:off x="682943" y="5457135"/>
            <a:ext cx="693181" cy="637555"/>
          </a:xfrm>
          <a:prstGeom prst="rect">
            <a:avLst/>
          </a:prstGeom>
        </p:spPr>
      </p:pic>
      <p:graphicFrame>
        <p:nvGraphicFramePr>
          <p:cNvPr id="7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680279"/>
              </p:ext>
            </p:extLst>
          </p:nvPr>
        </p:nvGraphicFramePr>
        <p:xfrm>
          <a:off x="1433274" y="3954513"/>
          <a:ext cx="5913676" cy="48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9358"/>
                <a:gridCol w="3004318"/>
              </a:tblGrid>
              <a:tr h="18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u="none" strike="noStrike" cap="none" dirty="0" smtClean="0">
                          <a:solidFill>
                            <a:schemeClr val="bg1"/>
                          </a:solidFill>
                          <a:latin typeface="Work Sans" panose="00000800000000000000" pitchFamily="2" charset="0"/>
                          <a:sym typeface="Roboto"/>
                        </a:rPr>
                        <a:t>CEO: </a:t>
                      </a:r>
                      <a:r>
                        <a:rPr lang="en-US" sz="1600" u="none" strike="noStrike" cap="none" dirty="0" smtClean="0">
                          <a:solidFill>
                            <a:schemeClr val="bg1"/>
                          </a:solidFill>
                          <a:latin typeface="Work Sans Light" panose="00000400000000000000" pitchFamily="2" charset="0"/>
                          <a:sym typeface="Roboto"/>
                        </a:rPr>
                        <a:t>+58 414 8392166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u="none" strike="noStrike" cap="none" dirty="0" smtClean="0">
                          <a:solidFill>
                            <a:schemeClr val="bg1"/>
                          </a:solidFill>
                          <a:latin typeface="Work Sans" panose="00000800000000000000" pitchFamily="2" charset="0"/>
                          <a:sym typeface="Roboto"/>
                        </a:rPr>
                        <a:t>Ventas: </a:t>
                      </a:r>
                      <a:r>
                        <a:rPr lang="en-US" sz="1600" u="none" strike="noStrike" cap="none" dirty="0" smtClean="0">
                          <a:solidFill>
                            <a:schemeClr val="bg1"/>
                          </a:solidFill>
                          <a:latin typeface="Work Sans Light" panose="00000400000000000000" pitchFamily="2" charset="0"/>
                          <a:sym typeface="Roboto"/>
                        </a:rPr>
                        <a:t>+58 412 9268997</a:t>
                      </a:r>
                      <a:endParaRPr lang="es-ES" sz="1600" dirty="0">
                        <a:solidFill>
                          <a:schemeClr val="bg1"/>
                        </a:solidFill>
                        <a:latin typeface="Work Sans Light" panose="00000400000000000000" pitchFamily="2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u="none" strike="noStrike" cap="none" dirty="0" err="1" smtClean="0">
                          <a:solidFill>
                            <a:schemeClr val="bg1"/>
                          </a:solidFill>
                          <a:latin typeface="Work Sans" panose="00000800000000000000" pitchFamily="2" charset="0"/>
                          <a:sym typeface="Roboto"/>
                        </a:rPr>
                        <a:t>Operaciones</a:t>
                      </a:r>
                      <a:r>
                        <a:rPr lang="en-US" sz="1600" u="none" strike="noStrike" cap="none" dirty="0" smtClean="0">
                          <a:solidFill>
                            <a:schemeClr val="bg1"/>
                          </a:solidFill>
                          <a:latin typeface="Work Sans" panose="00000800000000000000" pitchFamily="2" charset="0"/>
                          <a:sym typeface="Roboto"/>
                        </a:rPr>
                        <a:t>: </a:t>
                      </a:r>
                      <a:r>
                        <a:rPr lang="en-US" sz="1600" u="none" strike="noStrike" cap="none" dirty="0" smtClean="0">
                          <a:solidFill>
                            <a:schemeClr val="bg1"/>
                          </a:solidFill>
                          <a:latin typeface="Work Sans Light" panose="00000400000000000000" pitchFamily="2" charset="0"/>
                          <a:sym typeface="Roboto"/>
                        </a:rPr>
                        <a:t>+58 414 8197803</a:t>
                      </a:r>
                      <a:endParaRPr lang="en-US" sz="1600" dirty="0" smtClean="0">
                        <a:solidFill>
                          <a:schemeClr val="bg1"/>
                        </a:solidFill>
                        <a:latin typeface="Work Sans Light" panose="000004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u="none" strike="noStrike" cap="none" dirty="0" err="1" smtClean="0">
                          <a:solidFill>
                            <a:schemeClr val="bg1"/>
                          </a:solidFill>
                          <a:latin typeface="Work Sans" panose="00000800000000000000" pitchFamily="2" charset="0"/>
                          <a:sym typeface="Roboto"/>
                        </a:rPr>
                        <a:t>Oficina</a:t>
                      </a:r>
                      <a:r>
                        <a:rPr lang="en-US" sz="1600" u="none" strike="noStrike" cap="none" dirty="0" smtClean="0">
                          <a:solidFill>
                            <a:schemeClr val="bg1"/>
                          </a:solidFill>
                          <a:latin typeface="Work Sans" panose="00000800000000000000" pitchFamily="2" charset="0"/>
                          <a:sym typeface="Roboto"/>
                        </a:rPr>
                        <a:t>: </a:t>
                      </a:r>
                      <a:r>
                        <a:rPr lang="en-US" sz="1600" u="none" strike="noStrike" cap="none" dirty="0" smtClean="0">
                          <a:solidFill>
                            <a:schemeClr val="bg1"/>
                          </a:solidFill>
                          <a:latin typeface="Work Sans Light" panose="00000400000000000000" pitchFamily="2" charset="0"/>
                          <a:sym typeface="Roboto"/>
                        </a:rPr>
                        <a:t>+58 282 4253417</a:t>
                      </a:r>
                      <a:endParaRPr lang="es-ES" sz="1600" dirty="0">
                        <a:solidFill>
                          <a:schemeClr val="bg1"/>
                        </a:solidFill>
                        <a:latin typeface="Work Sans Light" panose="00000400000000000000" pitchFamily="2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86" name="Google Shape;104;p13"/>
          <p:cNvSpPr txBox="1"/>
          <p:nvPr/>
        </p:nvSpPr>
        <p:spPr>
          <a:xfrm>
            <a:off x="1433274" y="5526047"/>
            <a:ext cx="306306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 dirty="0" smtClean="0">
                <a:solidFill>
                  <a:schemeClr val="bg1"/>
                </a:solidFill>
                <a:latin typeface="Work Sans" panose="00000800000000000000" pitchFamily="2" charset="0"/>
                <a:ea typeface="Roboto"/>
                <a:cs typeface="Roboto"/>
                <a:sym typeface="Roboto"/>
              </a:rPr>
              <a:t>INSTAGRAM</a:t>
            </a:r>
            <a:endParaRPr lang="en-US" sz="1600" dirty="0" smtClean="0">
              <a:solidFill>
                <a:schemeClr val="bg1"/>
              </a:solidFill>
              <a:latin typeface="Work Sans Light" panose="00000400000000000000" pitchFamily="2" charset="0"/>
              <a:ea typeface="Roboto"/>
              <a:cs typeface="Roboto"/>
              <a:sym typeface="Roboto"/>
            </a:endParaRPr>
          </a:p>
          <a:p>
            <a:pPr lvl="0"/>
            <a:r>
              <a:rPr lang="en-US" sz="1600" dirty="0" err="1" smtClean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Inspectionwork</a:t>
            </a:r>
            <a:r>
              <a:rPr lang="en-US" sz="1600" dirty="0" smtClean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_ </a:t>
            </a:r>
            <a:endParaRPr sz="2400" dirty="0">
              <a:solidFill>
                <a:schemeClr val="bg1"/>
              </a:solidFill>
              <a:latin typeface="Work Sans" panose="00000800000000000000" pitchFamily="2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54" y="6125795"/>
            <a:ext cx="648000" cy="608133"/>
          </a:xfrm>
          <a:prstGeom prst="rect">
            <a:avLst/>
          </a:prstGeom>
        </p:spPr>
      </p:pic>
      <p:sp>
        <p:nvSpPr>
          <p:cNvPr id="21" name="Google Shape;104;p13"/>
          <p:cNvSpPr txBox="1"/>
          <p:nvPr/>
        </p:nvSpPr>
        <p:spPr>
          <a:xfrm>
            <a:off x="1433274" y="6179323"/>
            <a:ext cx="306306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 dirty="0" smtClean="0">
                <a:solidFill>
                  <a:schemeClr val="bg1"/>
                </a:solidFill>
                <a:latin typeface="Work Sans" panose="00000800000000000000" pitchFamily="2" charset="0"/>
                <a:ea typeface="Roboto"/>
                <a:cs typeface="Roboto"/>
                <a:sym typeface="Roboto"/>
              </a:rPr>
              <a:t>FACEBOOK</a:t>
            </a:r>
            <a:endParaRPr lang="en-US" sz="1600" dirty="0" smtClean="0">
              <a:solidFill>
                <a:schemeClr val="bg1"/>
              </a:solidFill>
              <a:latin typeface="Work Sans Light" panose="00000400000000000000" pitchFamily="2" charset="0"/>
              <a:ea typeface="Roboto"/>
              <a:cs typeface="Roboto"/>
              <a:sym typeface="Roboto"/>
            </a:endParaRPr>
          </a:p>
          <a:p>
            <a:pPr lvl="0"/>
            <a:r>
              <a:rPr lang="en-US" sz="1600" dirty="0" err="1" smtClean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Inspectionwork</a:t>
            </a:r>
            <a:r>
              <a:rPr lang="en-US" sz="1600" dirty="0" smtClean="0">
                <a:solidFill>
                  <a:schemeClr val="bg1"/>
                </a:solidFill>
                <a:latin typeface="Work Sans Light" panose="00000400000000000000" pitchFamily="2" charset="0"/>
                <a:ea typeface="Roboto"/>
                <a:cs typeface="Roboto"/>
                <a:sym typeface="Roboto"/>
              </a:rPr>
              <a:t>_ </a:t>
            </a:r>
            <a:endParaRPr sz="2400" dirty="0">
              <a:solidFill>
                <a:schemeClr val="bg1"/>
              </a:solidFill>
              <a:latin typeface="Work Sans" panose="00000800000000000000" pitchFamily="2" charset="0"/>
            </a:endParaRPr>
          </a:p>
        </p:txBody>
      </p:sp>
      <p:pic>
        <p:nvPicPr>
          <p:cNvPr id="22" name="Imagen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3308" y="390972"/>
            <a:ext cx="3565385" cy="1990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3041</TotalTime>
  <Words>1132</Words>
  <Application>Microsoft Office PowerPoint</Application>
  <PresentationFormat>Panorámica</PresentationFormat>
  <Paragraphs>110</Paragraphs>
  <Slides>14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4" baseType="lpstr">
      <vt:lpstr>Arial</vt:lpstr>
      <vt:lpstr>Work Sans Light</vt:lpstr>
      <vt:lpstr>Poppins</vt:lpstr>
      <vt:lpstr>Work Sans ExtraBold</vt:lpstr>
      <vt:lpstr>Lato</vt:lpstr>
      <vt:lpstr>Work Sans</vt:lpstr>
      <vt:lpstr>Roboto</vt:lpstr>
      <vt:lpstr>Calibri</vt:lpstr>
      <vt:lpstr>Oswald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Inspection Work</dc:creator>
  <cp:lastModifiedBy>Usuario de Windows</cp:lastModifiedBy>
  <cp:revision>72</cp:revision>
  <dcterms:modified xsi:type="dcterms:W3CDTF">2026-03-16T14:18:22Z</dcterms:modified>
</cp:coreProperties>
</file>